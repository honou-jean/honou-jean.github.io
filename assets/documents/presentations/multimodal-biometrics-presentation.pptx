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74" r:id="rId16"/>
    <p:sldId id="275" r:id="rId17"/>
    <p:sldId id="278" r:id="rId18"/>
    <p:sldId id="279" r:id="rId19"/>
    <p:sldId id="280" r:id="rId20"/>
    <p:sldId id="288" r:id="rId21"/>
    <p:sldId id="281" r:id="rId22"/>
    <p:sldId id="285" r:id="rId23"/>
    <p:sldId id="282" r:id="rId24"/>
    <p:sldId id="286" r:id="rId25"/>
    <p:sldId id="287" r:id="rId26"/>
    <p:sldId id="283" r:id="rId27"/>
    <p:sldId id="284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000" autoAdjust="0"/>
  </p:normalViewPr>
  <p:slideViewPr>
    <p:cSldViewPr snapToGrid="0">
      <p:cViewPr varScale="1">
        <p:scale>
          <a:sx n="48" d="100"/>
          <a:sy n="48" d="100"/>
        </p:scale>
        <p:origin x="67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130ACD-343C-43F6-8F78-C8C6ECBAF94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6B7B2CB-FDC0-444F-B548-217D0FF47A4B}">
      <dgm:prSet/>
      <dgm:spPr/>
      <dgm:t>
        <a:bodyPr/>
        <a:lstStyle/>
        <a:p>
          <a:r>
            <a:rPr lang="fr-FR" b="1" i="0"/>
            <a:t>Introduction générale</a:t>
          </a:r>
          <a:endParaRPr lang="en-US"/>
        </a:p>
      </dgm:t>
    </dgm:pt>
    <dgm:pt modelId="{759BA71D-723A-4E8B-B773-39684381F8AF}" type="parTrans" cxnId="{FA0A8A36-8073-40B7-B0D3-76819831EF6C}">
      <dgm:prSet/>
      <dgm:spPr/>
      <dgm:t>
        <a:bodyPr/>
        <a:lstStyle/>
        <a:p>
          <a:endParaRPr lang="en-US"/>
        </a:p>
      </dgm:t>
    </dgm:pt>
    <dgm:pt modelId="{72A50195-A74F-4428-9F25-E92B67DDB25D}" type="sibTrans" cxnId="{FA0A8A36-8073-40B7-B0D3-76819831EF6C}">
      <dgm:prSet/>
      <dgm:spPr/>
      <dgm:t>
        <a:bodyPr/>
        <a:lstStyle/>
        <a:p>
          <a:endParaRPr lang="en-US"/>
        </a:p>
      </dgm:t>
    </dgm:pt>
    <dgm:pt modelId="{0239B675-7177-4106-86A0-BBCB7EB08DEA}">
      <dgm:prSet/>
      <dgm:spPr/>
      <dgm:t>
        <a:bodyPr/>
        <a:lstStyle/>
        <a:p>
          <a:r>
            <a:rPr lang="fr-FR" b="1" i="0"/>
            <a:t>État de l’art de l’identification biométrique</a:t>
          </a:r>
          <a:endParaRPr lang="en-US"/>
        </a:p>
      </dgm:t>
    </dgm:pt>
    <dgm:pt modelId="{F4A5DE60-21E7-454D-BCFC-F4D95C5AC8AF}" type="parTrans" cxnId="{205D0A3D-BABE-48E1-8898-F1823846C3F1}">
      <dgm:prSet/>
      <dgm:spPr/>
      <dgm:t>
        <a:bodyPr/>
        <a:lstStyle/>
        <a:p>
          <a:endParaRPr lang="en-US"/>
        </a:p>
      </dgm:t>
    </dgm:pt>
    <dgm:pt modelId="{B4859B6D-4041-45CF-AF6A-3D64A33D79A6}" type="sibTrans" cxnId="{205D0A3D-BABE-48E1-8898-F1823846C3F1}">
      <dgm:prSet/>
      <dgm:spPr/>
      <dgm:t>
        <a:bodyPr/>
        <a:lstStyle/>
        <a:p>
          <a:endParaRPr lang="en-US"/>
        </a:p>
      </dgm:t>
    </dgm:pt>
    <dgm:pt modelId="{87DDD750-EC69-4274-A53A-B3119E35C5CF}">
      <dgm:prSet/>
      <dgm:spPr/>
      <dgm:t>
        <a:bodyPr/>
        <a:lstStyle/>
        <a:p>
          <a:r>
            <a:rPr lang="fr-FR" b="1" i="0"/>
            <a:t>État de l’art de la reconnaissance optique de caractère</a:t>
          </a:r>
          <a:endParaRPr lang="en-US"/>
        </a:p>
      </dgm:t>
    </dgm:pt>
    <dgm:pt modelId="{2BAE6393-0F54-43D0-B098-9D2C5312C5F0}" type="parTrans" cxnId="{E477F27B-98B8-4777-9F59-8F4B655C61EC}">
      <dgm:prSet/>
      <dgm:spPr/>
      <dgm:t>
        <a:bodyPr/>
        <a:lstStyle/>
        <a:p>
          <a:endParaRPr lang="en-US"/>
        </a:p>
      </dgm:t>
    </dgm:pt>
    <dgm:pt modelId="{2D003571-F607-43B7-91AD-2524FD064F4C}" type="sibTrans" cxnId="{E477F27B-98B8-4777-9F59-8F4B655C61EC}">
      <dgm:prSet/>
      <dgm:spPr/>
      <dgm:t>
        <a:bodyPr/>
        <a:lstStyle/>
        <a:p>
          <a:endParaRPr lang="en-US"/>
        </a:p>
      </dgm:t>
    </dgm:pt>
    <dgm:pt modelId="{AD81E017-9614-4CD6-A2E6-624AE633536E}">
      <dgm:prSet/>
      <dgm:spPr/>
      <dgm:t>
        <a:bodyPr/>
        <a:lstStyle/>
        <a:p>
          <a:r>
            <a:rPr lang="en-US" b="1" dirty="0" err="1"/>
            <a:t>Modélisation</a:t>
          </a:r>
          <a:endParaRPr lang="en-US" b="1" dirty="0"/>
        </a:p>
      </dgm:t>
    </dgm:pt>
    <dgm:pt modelId="{7D2D985E-04CE-439D-AF97-5AEEE58E1BDD}" type="parTrans" cxnId="{FCB0EE5B-6723-42FA-AD46-CFB8EEA559C2}">
      <dgm:prSet/>
      <dgm:spPr/>
      <dgm:t>
        <a:bodyPr/>
        <a:lstStyle/>
        <a:p>
          <a:endParaRPr lang="en-US"/>
        </a:p>
      </dgm:t>
    </dgm:pt>
    <dgm:pt modelId="{B4E6C15B-2C69-48AB-95CC-3367ECBC7A56}" type="sibTrans" cxnId="{FCB0EE5B-6723-42FA-AD46-CFB8EEA559C2}">
      <dgm:prSet/>
      <dgm:spPr/>
      <dgm:t>
        <a:bodyPr/>
        <a:lstStyle/>
        <a:p>
          <a:endParaRPr lang="en-US"/>
        </a:p>
      </dgm:t>
    </dgm:pt>
    <dgm:pt modelId="{7F83A32A-5F72-48C2-A370-46F9366C6485}">
      <dgm:prSet/>
      <dgm:spPr/>
      <dgm:t>
        <a:bodyPr/>
        <a:lstStyle/>
        <a:p>
          <a:r>
            <a:rPr lang="fr-FR" b="1" i="0" dirty="0"/>
            <a:t>Résultats et démonstration </a:t>
          </a:r>
          <a:endParaRPr lang="en-US" dirty="0"/>
        </a:p>
      </dgm:t>
    </dgm:pt>
    <dgm:pt modelId="{57F424CC-9E6F-401A-BC8B-AFE5E340EECF}" type="parTrans" cxnId="{20027E26-A7DE-4FB2-9703-78418BAADBF6}">
      <dgm:prSet/>
      <dgm:spPr/>
      <dgm:t>
        <a:bodyPr/>
        <a:lstStyle/>
        <a:p>
          <a:endParaRPr lang="en-US"/>
        </a:p>
      </dgm:t>
    </dgm:pt>
    <dgm:pt modelId="{8AD52940-AD9A-4CBE-913A-CE8C8135EBF6}" type="sibTrans" cxnId="{20027E26-A7DE-4FB2-9703-78418BAADBF6}">
      <dgm:prSet/>
      <dgm:spPr/>
      <dgm:t>
        <a:bodyPr/>
        <a:lstStyle/>
        <a:p>
          <a:endParaRPr lang="en-US"/>
        </a:p>
      </dgm:t>
    </dgm:pt>
    <dgm:pt modelId="{CA52E2E0-F8AA-4CEA-8F48-0E3563721555}">
      <dgm:prSet/>
      <dgm:spPr/>
      <dgm:t>
        <a:bodyPr/>
        <a:lstStyle/>
        <a:p>
          <a:r>
            <a:rPr lang="fr-FR" b="1" i="0"/>
            <a:t>Conclusion et perspectives</a:t>
          </a:r>
          <a:endParaRPr lang="en-US"/>
        </a:p>
      </dgm:t>
    </dgm:pt>
    <dgm:pt modelId="{CC576852-6225-4988-A4C4-C1D2626683AB}" type="parTrans" cxnId="{914B6649-3B57-4ED1-BEDA-CC060B192F91}">
      <dgm:prSet/>
      <dgm:spPr/>
      <dgm:t>
        <a:bodyPr/>
        <a:lstStyle/>
        <a:p>
          <a:endParaRPr lang="en-US"/>
        </a:p>
      </dgm:t>
    </dgm:pt>
    <dgm:pt modelId="{B6A6750A-57C8-4B73-AD17-302662A532B1}" type="sibTrans" cxnId="{914B6649-3B57-4ED1-BEDA-CC060B192F91}">
      <dgm:prSet/>
      <dgm:spPr/>
      <dgm:t>
        <a:bodyPr/>
        <a:lstStyle/>
        <a:p>
          <a:endParaRPr lang="en-US"/>
        </a:p>
      </dgm:t>
    </dgm:pt>
    <dgm:pt modelId="{AF41EA8C-893A-43B3-B7AA-403947262975}" type="pres">
      <dgm:prSet presAssocID="{88130ACD-343C-43F6-8F78-C8C6ECBAF944}" presName="Name0" presStyleCnt="0">
        <dgm:presLayoutVars>
          <dgm:dir/>
          <dgm:resizeHandles val="exact"/>
        </dgm:presLayoutVars>
      </dgm:prSet>
      <dgm:spPr/>
    </dgm:pt>
    <dgm:pt modelId="{D733FB15-F19D-4C2A-B9F8-AF081D9AC03D}" type="pres">
      <dgm:prSet presAssocID="{06B7B2CB-FDC0-444F-B548-217D0FF47A4B}" presName="node" presStyleLbl="node1" presStyleIdx="0" presStyleCnt="6">
        <dgm:presLayoutVars>
          <dgm:bulletEnabled val="1"/>
        </dgm:presLayoutVars>
      </dgm:prSet>
      <dgm:spPr/>
    </dgm:pt>
    <dgm:pt modelId="{C8A57E0B-8F96-4388-81B5-1B9AEE8F21E2}" type="pres">
      <dgm:prSet presAssocID="{72A50195-A74F-4428-9F25-E92B67DDB25D}" presName="sibTrans" presStyleLbl="sibTrans1D1" presStyleIdx="0" presStyleCnt="5"/>
      <dgm:spPr/>
    </dgm:pt>
    <dgm:pt modelId="{798756FA-AEA2-46B0-885E-4EAD72CAD814}" type="pres">
      <dgm:prSet presAssocID="{72A50195-A74F-4428-9F25-E92B67DDB25D}" presName="connectorText" presStyleLbl="sibTrans1D1" presStyleIdx="0" presStyleCnt="5"/>
      <dgm:spPr/>
    </dgm:pt>
    <dgm:pt modelId="{0D387B6B-C996-4F99-87B2-568E3824BDDF}" type="pres">
      <dgm:prSet presAssocID="{0239B675-7177-4106-86A0-BBCB7EB08DEA}" presName="node" presStyleLbl="node1" presStyleIdx="1" presStyleCnt="6">
        <dgm:presLayoutVars>
          <dgm:bulletEnabled val="1"/>
        </dgm:presLayoutVars>
      </dgm:prSet>
      <dgm:spPr/>
    </dgm:pt>
    <dgm:pt modelId="{24253996-84A9-41FB-BC44-413310EBFFE3}" type="pres">
      <dgm:prSet presAssocID="{B4859B6D-4041-45CF-AF6A-3D64A33D79A6}" presName="sibTrans" presStyleLbl="sibTrans1D1" presStyleIdx="1" presStyleCnt="5"/>
      <dgm:spPr/>
    </dgm:pt>
    <dgm:pt modelId="{4A3DF3F5-B8B6-4E10-88EA-110EB950C92A}" type="pres">
      <dgm:prSet presAssocID="{B4859B6D-4041-45CF-AF6A-3D64A33D79A6}" presName="connectorText" presStyleLbl="sibTrans1D1" presStyleIdx="1" presStyleCnt="5"/>
      <dgm:spPr/>
    </dgm:pt>
    <dgm:pt modelId="{8FB3914D-3986-4E03-9BDE-598CB0FA3EEA}" type="pres">
      <dgm:prSet presAssocID="{87DDD750-EC69-4274-A53A-B3119E35C5CF}" presName="node" presStyleLbl="node1" presStyleIdx="2" presStyleCnt="6">
        <dgm:presLayoutVars>
          <dgm:bulletEnabled val="1"/>
        </dgm:presLayoutVars>
      </dgm:prSet>
      <dgm:spPr/>
    </dgm:pt>
    <dgm:pt modelId="{6A4C7471-7AC5-4E2A-8C48-80388930DD40}" type="pres">
      <dgm:prSet presAssocID="{2D003571-F607-43B7-91AD-2524FD064F4C}" presName="sibTrans" presStyleLbl="sibTrans1D1" presStyleIdx="2" presStyleCnt="5"/>
      <dgm:spPr/>
    </dgm:pt>
    <dgm:pt modelId="{C82C1EAF-4825-4513-851C-F85A6B1FCF5A}" type="pres">
      <dgm:prSet presAssocID="{2D003571-F607-43B7-91AD-2524FD064F4C}" presName="connectorText" presStyleLbl="sibTrans1D1" presStyleIdx="2" presStyleCnt="5"/>
      <dgm:spPr/>
    </dgm:pt>
    <dgm:pt modelId="{D5C3BD8E-4934-4445-B58E-921AB875CD0A}" type="pres">
      <dgm:prSet presAssocID="{AD81E017-9614-4CD6-A2E6-624AE633536E}" presName="node" presStyleLbl="node1" presStyleIdx="3" presStyleCnt="6" custLinFactNeighborX="-778" custLinFactNeighborY="-2594">
        <dgm:presLayoutVars>
          <dgm:bulletEnabled val="1"/>
        </dgm:presLayoutVars>
      </dgm:prSet>
      <dgm:spPr/>
    </dgm:pt>
    <dgm:pt modelId="{FC422975-E75F-4AE6-B62D-7BBE03488867}" type="pres">
      <dgm:prSet presAssocID="{B4E6C15B-2C69-48AB-95CC-3367ECBC7A56}" presName="sibTrans" presStyleLbl="sibTrans1D1" presStyleIdx="3" presStyleCnt="5"/>
      <dgm:spPr/>
    </dgm:pt>
    <dgm:pt modelId="{94239D4A-71AE-4E64-A252-63AAE3498389}" type="pres">
      <dgm:prSet presAssocID="{B4E6C15B-2C69-48AB-95CC-3367ECBC7A56}" presName="connectorText" presStyleLbl="sibTrans1D1" presStyleIdx="3" presStyleCnt="5"/>
      <dgm:spPr/>
    </dgm:pt>
    <dgm:pt modelId="{EF601D30-1EA3-49AF-9036-F9B73B2CCF3A}" type="pres">
      <dgm:prSet presAssocID="{7F83A32A-5F72-48C2-A370-46F9366C6485}" presName="node" presStyleLbl="node1" presStyleIdx="4" presStyleCnt="6">
        <dgm:presLayoutVars>
          <dgm:bulletEnabled val="1"/>
        </dgm:presLayoutVars>
      </dgm:prSet>
      <dgm:spPr/>
    </dgm:pt>
    <dgm:pt modelId="{AEB11745-6215-4CE6-99A3-3275DA08232F}" type="pres">
      <dgm:prSet presAssocID="{8AD52940-AD9A-4CBE-913A-CE8C8135EBF6}" presName="sibTrans" presStyleLbl="sibTrans1D1" presStyleIdx="4" presStyleCnt="5"/>
      <dgm:spPr/>
    </dgm:pt>
    <dgm:pt modelId="{B59E332D-340F-4E0C-9626-7CFF32EE04D2}" type="pres">
      <dgm:prSet presAssocID="{8AD52940-AD9A-4CBE-913A-CE8C8135EBF6}" presName="connectorText" presStyleLbl="sibTrans1D1" presStyleIdx="4" presStyleCnt="5"/>
      <dgm:spPr/>
    </dgm:pt>
    <dgm:pt modelId="{6786F41C-F9C5-4C98-B037-F06EB98BA708}" type="pres">
      <dgm:prSet presAssocID="{CA52E2E0-F8AA-4CEA-8F48-0E3563721555}" presName="node" presStyleLbl="node1" presStyleIdx="5" presStyleCnt="6">
        <dgm:presLayoutVars>
          <dgm:bulletEnabled val="1"/>
        </dgm:presLayoutVars>
      </dgm:prSet>
      <dgm:spPr/>
    </dgm:pt>
  </dgm:ptLst>
  <dgm:cxnLst>
    <dgm:cxn modelId="{3DDE4102-FDD1-4AC3-9E17-5BD52BB89A45}" type="presOf" srcId="{B4E6C15B-2C69-48AB-95CC-3367ECBC7A56}" destId="{94239D4A-71AE-4E64-A252-63AAE3498389}" srcOrd="1" destOrd="0" presId="urn:microsoft.com/office/officeart/2016/7/layout/RepeatingBendingProcessNew"/>
    <dgm:cxn modelId="{A414D805-A311-4074-8BD7-7AFD237F5F61}" type="presOf" srcId="{B4859B6D-4041-45CF-AF6A-3D64A33D79A6}" destId="{4A3DF3F5-B8B6-4E10-88EA-110EB950C92A}" srcOrd="1" destOrd="0" presId="urn:microsoft.com/office/officeart/2016/7/layout/RepeatingBendingProcessNew"/>
    <dgm:cxn modelId="{076E330E-7CF8-4A57-8D32-4C34F09452E0}" type="presOf" srcId="{72A50195-A74F-4428-9F25-E92B67DDB25D}" destId="{798756FA-AEA2-46B0-885E-4EAD72CAD814}" srcOrd="1" destOrd="0" presId="urn:microsoft.com/office/officeart/2016/7/layout/RepeatingBendingProcessNew"/>
    <dgm:cxn modelId="{E902DB1E-7BA2-44BA-AD85-B379B2200EC2}" type="presOf" srcId="{8AD52940-AD9A-4CBE-913A-CE8C8135EBF6}" destId="{B59E332D-340F-4E0C-9626-7CFF32EE04D2}" srcOrd="1" destOrd="0" presId="urn:microsoft.com/office/officeart/2016/7/layout/RepeatingBendingProcessNew"/>
    <dgm:cxn modelId="{20027E26-A7DE-4FB2-9703-78418BAADBF6}" srcId="{88130ACD-343C-43F6-8F78-C8C6ECBAF944}" destId="{7F83A32A-5F72-48C2-A370-46F9366C6485}" srcOrd="4" destOrd="0" parTransId="{57F424CC-9E6F-401A-BC8B-AFE5E340EECF}" sibTransId="{8AD52940-AD9A-4CBE-913A-CE8C8135EBF6}"/>
    <dgm:cxn modelId="{1E81D72A-7B75-4A4D-B5AC-332ABB65665A}" type="presOf" srcId="{0239B675-7177-4106-86A0-BBCB7EB08DEA}" destId="{0D387B6B-C996-4F99-87B2-568E3824BDDF}" srcOrd="0" destOrd="0" presId="urn:microsoft.com/office/officeart/2016/7/layout/RepeatingBendingProcessNew"/>
    <dgm:cxn modelId="{206C962D-4AC0-4B87-A48D-55D3505605BE}" type="presOf" srcId="{87DDD750-EC69-4274-A53A-B3119E35C5CF}" destId="{8FB3914D-3986-4E03-9BDE-598CB0FA3EEA}" srcOrd="0" destOrd="0" presId="urn:microsoft.com/office/officeart/2016/7/layout/RepeatingBendingProcessNew"/>
    <dgm:cxn modelId="{58CCD933-CD7B-4B31-BDE2-272B2DFA1F87}" type="presOf" srcId="{8AD52940-AD9A-4CBE-913A-CE8C8135EBF6}" destId="{AEB11745-6215-4CE6-99A3-3275DA08232F}" srcOrd="0" destOrd="0" presId="urn:microsoft.com/office/officeart/2016/7/layout/RepeatingBendingProcessNew"/>
    <dgm:cxn modelId="{FA0A8A36-8073-40B7-B0D3-76819831EF6C}" srcId="{88130ACD-343C-43F6-8F78-C8C6ECBAF944}" destId="{06B7B2CB-FDC0-444F-B548-217D0FF47A4B}" srcOrd="0" destOrd="0" parTransId="{759BA71D-723A-4E8B-B773-39684381F8AF}" sibTransId="{72A50195-A74F-4428-9F25-E92B67DDB25D}"/>
    <dgm:cxn modelId="{205D0A3D-BABE-48E1-8898-F1823846C3F1}" srcId="{88130ACD-343C-43F6-8F78-C8C6ECBAF944}" destId="{0239B675-7177-4106-86A0-BBCB7EB08DEA}" srcOrd="1" destOrd="0" parTransId="{F4A5DE60-21E7-454D-BCFC-F4D95C5AC8AF}" sibTransId="{B4859B6D-4041-45CF-AF6A-3D64A33D79A6}"/>
    <dgm:cxn modelId="{FCB0EE5B-6723-42FA-AD46-CFB8EEA559C2}" srcId="{88130ACD-343C-43F6-8F78-C8C6ECBAF944}" destId="{AD81E017-9614-4CD6-A2E6-624AE633536E}" srcOrd="3" destOrd="0" parTransId="{7D2D985E-04CE-439D-AF97-5AEEE58E1BDD}" sibTransId="{B4E6C15B-2C69-48AB-95CC-3367ECBC7A56}"/>
    <dgm:cxn modelId="{D488B861-ADA8-4D8B-9B46-8800F5E4116F}" type="presOf" srcId="{B4E6C15B-2C69-48AB-95CC-3367ECBC7A56}" destId="{FC422975-E75F-4AE6-B62D-7BBE03488867}" srcOrd="0" destOrd="0" presId="urn:microsoft.com/office/officeart/2016/7/layout/RepeatingBendingProcessNew"/>
    <dgm:cxn modelId="{914B6649-3B57-4ED1-BEDA-CC060B192F91}" srcId="{88130ACD-343C-43F6-8F78-C8C6ECBAF944}" destId="{CA52E2E0-F8AA-4CEA-8F48-0E3563721555}" srcOrd="5" destOrd="0" parTransId="{CC576852-6225-4988-A4C4-C1D2626683AB}" sibTransId="{B6A6750A-57C8-4B73-AD17-302662A532B1}"/>
    <dgm:cxn modelId="{15186974-17F0-47F2-8BEC-3F88EBF8499E}" type="presOf" srcId="{2D003571-F607-43B7-91AD-2524FD064F4C}" destId="{6A4C7471-7AC5-4E2A-8C48-80388930DD40}" srcOrd="0" destOrd="0" presId="urn:microsoft.com/office/officeart/2016/7/layout/RepeatingBendingProcessNew"/>
    <dgm:cxn modelId="{7AE15258-CA4E-4B76-94AD-C3FE1E021EA5}" type="presOf" srcId="{72A50195-A74F-4428-9F25-E92B67DDB25D}" destId="{C8A57E0B-8F96-4388-81B5-1B9AEE8F21E2}" srcOrd="0" destOrd="0" presId="urn:microsoft.com/office/officeart/2016/7/layout/RepeatingBendingProcessNew"/>
    <dgm:cxn modelId="{E477F27B-98B8-4777-9F59-8F4B655C61EC}" srcId="{88130ACD-343C-43F6-8F78-C8C6ECBAF944}" destId="{87DDD750-EC69-4274-A53A-B3119E35C5CF}" srcOrd="2" destOrd="0" parTransId="{2BAE6393-0F54-43D0-B098-9D2C5312C5F0}" sibTransId="{2D003571-F607-43B7-91AD-2524FD064F4C}"/>
    <dgm:cxn modelId="{9D21097D-89D9-440C-8E78-DE5589E77E2D}" type="presOf" srcId="{88130ACD-343C-43F6-8F78-C8C6ECBAF944}" destId="{AF41EA8C-893A-43B3-B7AA-403947262975}" srcOrd="0" destOrd="0" presId="urn:microsoft.com/office/officeart/2016/7/layout/RepeatingBendingProcessNew"/>
    <dgm:cxn modelId="{2010C297-7D00-47FB-9E12-D61BB202454E}" type="presOf" srcId="{2D003571-F607-43B7-91AD-2524FD064F4C}" destId="{C82C1EAF-4825-4513-851C-F85A6B1FCF5A}" srcOrd="1" destOrd="0" presId="urn:microsoft.com/office/officeart/2016/7/layout/RepeatingBendingProcessNew"/>
    <dgm:cxn modelId="{048714B8-D0A1-4598-B0E7-9C30AF8E15DE}" type="presOf" srcId="{7F83A32A-5F72-48C2-A370-46F9366C6485}" destId="{EF601D30-1EA3-49AF-9036-F9B73B2CCF3A}" srcOrd="0" destOrd="0" presId="urn:microsoft.com/office/officeart/2016/7/layout/RepeatingBendingProcessNew"/>
    <dgm:cxn modelId="{FBA4C0C0-0570-49E5-84EA-1F37C2ED971D}" type="presOf" srcId="{06B7B2CB-FDC0-444F-B548-217D0FF47A4B}" destId="{D733FB15-F19D-4C2A-B9F8-AF081D9AC03D}" srcOrd="0" destOrd="0" presId="urn:microsoft.com/office/officeart/2016/7/layout/RepeatingBendingProcessNew"/>
    <dgm:cxn modelId="{8E73D8DA-1019-4956-9162-E5C2267B30FB}" type="presOf" srcId="{AD81E017-9614-4CD6-A2E6-624AE633536E}" destId="{D5C3BD8E-4934-4445-B58E-921AB875CD0A}" srcOrd="0" destOrd="0" presId="urn:microsoft.com/office/officeart/2016/7/layout/RepeatingBendingProcessNew"/>
    <dgm:cxn modelId="{3973B5DE-BF4A-48E8-B709-DBFFCFF0FA56}" type="presOf" srcId="{B4859B6D-4041-45CF-AF6A-3D64A33D79A6}" destId="{24253996-84A9-41FB-BC44-413310EBFFE3}" srcOrd="0" destOrd="0" presId="urn:microsoft.com/office/officeart/2016/7/layout/RepeatingBendingProcessNew"/>
    <dgm:cxn modelId="{C9C2C4FB-F595-46D4-884A-1F9F611E0913}" type="presOf" srcId="{CA52E2E0-F8AA-4CEA-8F48-0E3563721555}" destId="{6786F41C-F9C5-4C98-B037-F06EB98BA708}" srcOrd="0" destOrd="0" presId="urn:microsoft.com/office/officeart/2016/7/layout/RepeatingBendingProcessNew"/>
    <dgm:cxn modelId="{A50575C2-F8CD-4CED-BE4C-04AB68921286}" type="presParOf" srcId="{AF41EA8C-893A-43B3-B7AA-403947262975}" destId="{D733FB15-F19D-4C2A-B9F8-AF081D9AC03D}" srcOrd="0" destOrd="0" presId="urn:microsoft.com/office/officeart/2016/7/layout/RepeatingBendingProcessNew"/>
    <dgm:cxn modelId="{F03FB4D4-473F-45D6-AB11-06DD1026ABCA}" type="presParOf" srcId="{AF41EA8C-893A-43B3-B7AA-403947262975}" destId="{C8A57E0B-8F96-4388-81B5-1B9AEE8F21E2}" srcOrd="1" destOrd="0" presId="urn:microsoft.com/office/officeart/2016/7/layout/RepeatingBendingProcessNew"/>
    <dgm:cxn modelId="{ADD090A5-90DD-4B3B-80B0-30FFCEB3DB4A}" type="presParOf" srcId="{C8A57E0B-8F96-4388-81B5-1B9AEE8F21E2}" destId="{798756FA-AEA2-46B0-885E-4EAD72CAD814}" srcOrd="0" destOrd="0" presId="urn:microsoft.com/office/officeart/2016/7/layout/RepeatingBendingProcessNew"/>
    <dgm:cxn modelId="{61735B16-3842-4184-920D-9F7728533398}" type="presParOf" srcId="{AF41EA8C-893A-43B3-B7AA-403947262975}" destId="{0D387B6B-C996-4F99-87B2-568E3824BDDF}" srcOrd="2" destOrd="0" presId="urn:microsoft.com/office/officeart/2016/7/layout/RepeatingBendingProcessNew"/>
    <dgm:cxn modelId="{83AD2E41-36F7-4943-B544-B75F72E28598}" type="presParOf" srcId="{AF41EA8C-893A-43B3-B7AA-403947262975}" destId="{24253996-84A9-41FB-BC44-413310EBFFE3}" srcOrd="3" destOrd="0" presId="urn:microsoft.com/office/officeart/2016/7/layout/RepeatingBendingProcessNew"/>
    <dgm:cxn modelId="{EE4FDE68-F19B-42D6-92EF-4A830C6821FF}" type="presParOf" srcId="{24253996-84A9-41FB-BC44-413310EBFFE3}" destId="{4A3DF3F5-B8B6-4E10-88EA-110EB950C92A}" srcOrd="0" destOrd="0" presId="urn:microsoft.com/office/officeart/2016/7/layout/RepeatingBendingProcessNew"/>
    <dgm:cxn modelId="{5AD37ECB-7975-4E71-8AC0-EDE63D607153}" type="presParOf" srcId="{AF41EA8C-893A-43B3-B7AA-403947262975}" destId="{8FB3914D-3986-4E03-9BDE-598CB0FA3EEA}" srcOrd="4" destOrd="0" presId="urn:microsoft.com/office/officeart/2016/7/layout/RepeatingBendingProcessNew"/>
    <dgm:cxn modelId="{C967AB96-282F-4ABB-A853-0AF3AFB988B8}" type="presParOf" srcId="{AF41EA8C-893A-43B3-B7AA-403947262975}" destId="{6A4C7471-7AC5-4E2A-8C48-80388930DD40}" srcOrd="5" destOrd="0" presId="urn:microsoft.com/office/officeart/2016/7/layout/RepeatingBendingProcessNew"/>
    <dgm:cxn modelId="{0BC76D3E-C54D-4C2D-8457-F5070A14AE31}" type="presParOf" srcId="{6A4C7471-7AC5-4E2A-8C48-80388930DD40}" destId="{C82C1EAF-4825-4513-851C-F85A6B1FCF5A}" srcOrd="0" destOrd="0" presId="urn:microsoft.com/office/officeart/2016/7/layout/RepeatingBendingProcessNew"/>
    <dgm:cxn modelId="{84B45FB9-D2F0-402F-AD1B-EC592EE7D6FF}" type="presParOf" srcId="{AF41EA8C-893A-43B3-B7AA-403947262975}" destId="{D5C3BD8E-4934-4445-B58E-921AB875CD0A}" srcOrd="6" destOrd="0" presId="urn:microsoft.com/office/officeart/2016/7/layout/RepeatingBendingProcessNew"/>
    <dgm:cxn modelId="{0A0E8CD0-EFA0-4178-9155-2BFBB3282503}" type="presParOf" srcId="{AF41EA8C-893A-43B3-B7AA-403947262975}" destId="{FC422975-E75F-4AE6-B62D-7BBE03488867}" srcOrd="7" destOrd="0" presId="urn:microsoft.com/office/officeart/2016/7/layout/RepeatingBendingProcessNew"/>
    <dgm:cxn modelId="{19097DF6-C71C-43F7-A0FE-42B014C7891C}" type="presParOf" srcId="{FC422975-E75F-4AE6-B62D-7BBE03488867}" destId="{94239D4A-71AE-4E64-A252-63AAE3498389}" srcOrd="0" destOrd="0" presId="urn:microsoft.com/office/officeart/2016/7/layout/RepeatingBendingProcessNew"/>
    <dgm:cxn modelId="{9CD01638-02F4-4C2D-97DC-82617EB932C1}" type="presParOf" srcId="{AF41EA8C-893A-43B3-B7AA-403947262975}" destId="{EF601D30-1EA3-49AF-9036-F9B73B2CCF3A}" srcOrd="8" destOrd="0" presId="urn:microsoft.com/office/officeart/2016/7/layout/RepeatingBendingProcessNew"/>
    <dgm:cxn modelId="{CC1AA9B7-388C-4418-8B4C-75C72A31F8C9}" type="presParOf" srcId="{AF41EA8C-893A-43B3-B7AA-403947262975}" destId="{AEB11745-6215-4CE6-99A3-3275DA08232F}" srcOrd="9" destOrd="0" presId="urn:microsoft.com/office/officeart/2016/7/layout/RepeatingBendingProcessNew"/>
    <dgm:cxn modelId="{531EF7C4-092B-4288-BA22-3BADB13E2D5D}" type="presParOf" srcId="{AEB11745-6215-4CE6-99A3-3275DA08232F}" destId="{B59E332D-340F-4E0C-9626-7CFF32EE04D2}" srcOrd="0" destOrd="0" presId="urn:microsoft.com/office/officeart/2016/7/layout/RepeatingBendingProcessNew"/>
    <dgm:cxn modelId="{291A6A41-EC76-4C76-B299-33F1BC3AD446}" type="presParOf" srcId="{AF41EA8C-893A-43B3-B7AA-403947262975}" destId="{6786F41C-F9C5-4C98-B037-F06EB98BA708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EEBA02-04F9-4713-9699-AA2F3BCFD432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1E73F7-F325-4FFA-A494-0AD4E802899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1" i="0" dirty="0"/>
            <a:t>Contexte</a:t>
          </a:r>
          <a:r>
            <a:rPr lang="fr-FR" b="0" i="0" dirty="0"/>
            <a:t> : Importance de l’ IDENTIFICATION  des     utilisateurs D’un service</a:t>
          </a:r>
          <a:endParaRPr lang="en-US" dirty="0"/>
        </a:p>
      </dgm:t>
    </dgm:pt>
    <dgm:pt modelId="{09F3AE0E-66A6-4F53-8A60-BC21DDBE680F}" type="parTrans" cxnId="{8D742F9B-3D48-427F-8EA2-724F3E1243E1}">
      <dgm:prSet/>
      <dgm:spPr/>
      <dgm:t>
        <a:bodyPr/>
        <a:lstStyle/>
        <a:p>
          <a:endParaRPr lang="en-US"/>
        </a:p>
      </dgm:t>
    </dgm:pt>
    <dgm:pt modelId="{5526AACF-1C92-4863-B8F8-7A6F8255E297}" type="sibTrans" cxnId="{8D742F9B-3D48-427F-8EA2-724F3E1243E1}">
      <dgm:prSet/>
      <dgm:spPr/>
      <dgm:t>
        <a:bodyPr/>
        <a:lstStyle/>
        <a:p>
          <a:endParaRPr lang="en-US"/>
        </a:p>
      </dgm:t>
    </dgm:pt>
    <dgm:pt modelId="{9BAC5BD2-D731-4C79-8EFD-0A1E5D2A899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1" i="0" dirty="0"/>
            <a:t>Justification</a:t>
          </a:r>
          <a:r>
            <a:rPr lang="fr-FR" b="0" i="0" dirty="0"/>
            <a:t> : Besoin de </a:t>
          </a:r>
          <a:r>
            <a:rPr lang="fr-FR" b="0" i="0" dirty="0" err="1"/>
            <a:t>developper</a:t>
          </a:r>
          <a:r>
            <a:rPr lang="fr-FR" b="0" i="0" dirty="0"/>
            <a:t> systèmes rapides et précis pour l’enregistrement et l’identification des abonnés D’un service</a:t>
          </a:r>
          <a:endParaRPr lang="en-US" dirty="0"/>
        </a:p>
      </dgm:t>
    </dgm:pt>
    <dgm:pt modelId="{411083E4-3D9F-4D42-8D9D-86C791B62644}" type="parTrans" cxnId="{540BE88A-FD81-4082-949D-B27E575D04CE}">
      <dgm:prSet/>
      <dgm:spPr/>
      <dgm:t>
        <a:bodyPr/>
        <a:lstStyle/>
        <a:p>
          <a:endParaRPr lang="en-US"/>
        </a:p>
      </dgm:t>
    </dgm:pt>
    <dgm:pt modelId="{BE7691A1-CD01-40DF-85CC-82F2FB656A13}" type="sibTrans" cxnId="{540BE88A-FD81-4082-949D-B27E575D04CE}">
      <dgm:prSet/>
      <dgm:spPr/>
      <dgm:t>
        <a:bodyPr/>
        <a:lstStyle/>
        <a:p>
          <a:endParaRPr lang="en-US"/>
        </a:p>
      </dgm:t>
    </dgm:pt>
    <dgm:pt modelId="{8B59BB3A-BCFA-4456-A222-16307281B247}" type="pres">
      <dgm:prSet presAssocID="{CBEEBA02-04F9-4713-9699-AA2F3BCFD432}" presName="root" presStyleCnt="0">
        <dgm:presLayoutVars>
          <dgm:dir/>
          <dgm:resizeHandles val="exact"/>
        </dgm:presLayoutVars>
      </dgm:prSet>
      <dgm:spPr/>
    </dgm:pt>
    <dgm:pt modelId="{73E8DEA7-000F-464D-AAAB-2F01E958C496}" type="pres">
      <dgm:prSet presAssocID="{9A1E73F7-F325-4FFA-A494-0AD4E8028999}" presName="compNode" presStyleCnt="0"/>
      <dgm:spPr/>
    </dgm:pt>
    <dgm:pt modelId="{6A0DDA21-BB15-4D7A-81B5-793143C4EF79}" type="pres">
      <dgm:prSet presAssocID="{9A1E73F7-F325-4FFA-A494-0AD4E8028999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9ECD467-7A0A-4840-A3A4-DF08AAD93B3C}" type="pres">
      <dgm:prSet presAssocID="{9A1E73F7-F325-4FFA-A494-0AD4E802899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es"/>
        </a:ext>
      </dgm:extLst>
    </dgm:pt>
    <dgm:pt modelId="{10C21149-307E-442B-B25B-D59C33AF69BF}" type="pres">
      <dgm:prSet presAssocID="{9A1E73F7-F325-4FFA-A494-0AD4E8028999}" presName="spaceRect" presStyleCnt="0"/>
      <dgm:spPr/>
    </dgm:pt>
    <dgm:pt modelId="{4765EA72-B8F2-4C81-838D-9B8662DFE197}" type="pres">
      <dgm:prSet presAssocID="{9A1E73F7-F325-4FFA-A494-0AD4E8028999}" presName="textRect" presStyleLbl="revTx" presStyleIdx="0" presStyleCnt="2">
        <dgm:presLayoutVars>
          <dgm:chMax val="1"/>
          <dgm:chPref val="1"/>
        </dgm:presLayoutVars>
      </dgm:prSet>
      <dgm:spPr/>
    </dgm:pt>
    <dgm:pt modelId="{055C4866-443C-462A-9B6E-E82045564DC4}" type="pres">
      <dgm:prSet presAssocID="{5526AACF-1C92-4863-B8F8-7A6F8255E297}" presName="sibTrans" presStyleCnt="0"/>
      <dgm:spPr/>
    </dgm:pt>
    <dgm:pt modelId="{84DF9E0E-3113-4CBB-B5E1-2E05DF91A067}" type="pres">
      <dgm:prSet presAssocID="{9BAC5BD2-D731-4C79-8EFD-0A1E5D2A899F}" presName="compNode" presStyleCnt="0"/>
      <dgm:spPr/>
    </dgm:pt>
    <dgm:pt modelId="{C970772F-DD89-42F3-8CA2-AD697E0D85FE}" type="pres">
      <dgm:prSet presAssocID="{9BAC5BD2-D731-4C79-8EFD-0A1E5D2A899F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980AB86C-A854-4C19-92FE-5F34788F1181}" type="pres">
      <dgm:prSet presAssocID="{9BAC5BD2-D731-4C79-8EFD-0A1E5D2A899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3C1F15A5-363F-4A37-886A-3B7A84B22151}" type="pres">
      <dgm:prSet presAssocID="{9BAC5BD2-D731-4C79-8EFD-0A1E5D2A899F}" presName="spaceRect" presStyleCnt="0"/>
      <dgm:spPr/>
    </dgm:pt>
    <dgm:pt modelId="{FD31DA81-874B-4543-8413-1480946070E6}" type="pres">
      <dgm:prSet presAssocID="{9BAC5BD2-D731-4C79-8EFD-0A1E5D2A899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6694C69-A616-49FD-982A-50FE8BC9D6AF}" type="presOf" srcId="{CBEEBA02-04F9-4713-9699-AA2F3BCFD432}" destId="{8B59BB3A-BCFA-4456-A222-16307281B247}" srcOrd="0" destOrd="0" presId="urn:microsoft.com/office/officeart/2018/5/layout/IconLeafLabelList"/>
    <dgm:cxn modelId="{9C4EF875-101C-4981-BA93-CF9C24AFE98D}" type="presOf" srcId="{9BAC5BD2-D731-4C79-8EFD-0A1E5D2A899F}" destId="{FD31DA81-874B-4543-8413-1480946070E6}" srcOrd="0" destOrd="0" presId="urn:microsoft.com/office/officeart/2018/5/layout/IconLeafLabelList"/>
    <dgm:cxn modelId="{BE4D9F79-E387-47A6-9BB3-51FAFA1AE25F}" type="presOf" srcId="{9A1E73F7-F325-4FFA-A494-0AD4E8028999}" destId="{4765EA72-B8F2-4C81-838D-9B8662DFE197}" srcOrd="0" destOrd="0" presId="urn:microsoft.com/office/officeart/2018/5/layout/IconLeafLabelList"/>
    <dgm:cxn modelId="{540BE88A-FD81-4082-949D-B27E575D04CE}" srcId="{CBEEBA02-04F9-4713-9699-AA2F3BCFD432}" destId="{9BAC5BD2-D731-4C79-8EFD-0A1E5D2A899F}" srcOrd="1" destOrd="0" parTransId="{411083E4-3D9F-4D42-8D9D-86C791B62644}" sibTransId="{BE7691A1-CD01-40DF-85CC-82F2FB656A13}"/>
    <dgm:cxn modelId="{8D742F9B-3D48-427F-8EA2-724F3E1243E1}" srcId="{CBEEBA02-04F9-4713-9699-AA2F3BCFD432}" destId="{9A1E73F7-F325-4FFA-A494-0AD4E8028999}" srcOrd="0" destOrd="0" parTransId="{09F3AE0E-66A6-4F53-8A60-BC21DDBE680F}" sibTransId="{5526AACF-1C92-4863-B8F8-7A6F8255E297}"/>
    <dgm:cxn modelId="{C5E23168-8FBF-44FB-A95C-130FA19CA7CB}" type="presParOf" srcId="{8B59BB3A-BCFA-4456-A222-16307281B247}" destId="{73E8DEA7-000F-464D-AAAB-2F01E958C496}" srcOrd="0" destOrd="0" presId="urn:microsoft.com/office/officeart/2018/5/layout/IconLeafLabelList"/>
    <dgm:cxn modelId="{399AC689-FD9D-4B6A-8E92-585DD1AC1019}" type="presParOf" srcId="{73E8DEA7-000F-464D-AAAB-2F01E958C496}" destId="{6A0DDA21-BB15-4D7A-81B5-793143C4EF79}" srcOrd="0" destOrd="0" presId="urn:microsoft.com/office/officeart/2018/5/layout/IconLeafLabelList"/>
    <dgm:cxn modelId="{5E9B436F-6ACF-4A3B-ACD3-0BDF5A3A8CB6}" type="presParOf" srcId="{73E8DEA7-000F-464D-AAAB-2F01E958C496}" destId="{29ECD467-7A0A-4840-A3A4-DF08AAD93B3C}" srcOrd="1" destOrd="0" presId="urn:microsoft.com/office/officeart/2018/5/layout/IconLeafLabelList"/>
    <dgm:cxn modelId="{46AFC5A2-EB82-4DD5-9E1B-788404458B2B}" type="presParOf" srcId="{73E8DEA7-000F-464D-AAAB-2F01E958C496}" destId="{10C21149-307E-442B-B25B-D59C33AF69BF}" srcOrd="2" destOrd="0" presId="urn:microsoft.com/office/officeart/2018/5/layout/IconLeafLabelList"/>
    <dgm:cxn modelId="{47279D53-69C6-45D2-8982-D6EDCED0BB68}" type="presParOf" srcId="{73E8DEA7-000F-464D-AAAB-2F01E958C496}" destId="{4765EA72-B8F2-4C81-838D-9B8662DFE197}" srcOrd="3" destOrd="0" presId="urn:microsoft.com/office/officeart/2018/5/layout/IconLeafLabelList"/>
    <dgm:cxn modelId="{24CDFE60-67FD-4FF1-BBC4-FD2D509E3C24}" type="presParOf" srcId="{8B59BB3A-BCFA-4456-A222-16307281B247}" destId="{055C4866-443C-462A-9B6E-E82045564DC4}" srcOrd="1" destOrd="0" presId="urn:microsoft.com/office/officeart/2018/5/layout/IconLeafLabelList"/>
    <dgm:cxn modelId="{8265452A-AFED-4D50-AFE5-57E9FFCF9CC1}" type="presParOf" srcId="{8B59BB3A-BCFA-4456-A222-16307281B247}" destId="{84DF9E0E-3113-4CBB-B5E1-2E05DF91A067}" srcOrd="2" destOrd="0" presId="urn:microsoft.com/office/officeart/2018/5/layout/IconLeafLabelList"/>
    <dgm:cxn modelId="{DD756301-F1FB-4849-A168-D961D330E133}" type="presParOf" srcId="{84DF9E0E-3113-4CBB-B5E1-2E05DF91A067}" destId="{C970772F-DD89-42F3-8CA2-AD697E0D85FE}" srcOrd="0" destOrd="0" presId="urn:microsoft.com/office/officeart/2018/5/layout/IconLeafLabelList"/>
    <dgm:cxn modelId="{B7807062-AB9F-4CA4-B158-BBEE52A1AE7A}" type="presParOf" srcId="{84DF9E0E-3113-4CBB-B5E1-2E05DF91A067}" destId="{980AB86C-A854-4C19-92FE-5F34788F1181}" srcOrd="1" destOrd="0" presId="urn:microsoft.com/office/officeart/2018/5/layout/IconLeafLabelList"/>
    <dgm:cxn modelId="{9A134935-B339-4267-986A-4718A2F9D20A}" type="presParOf" srcId="{84DF9E0E-3113-4CBB-B5E1-2E05DF91A067}" destId="{3C1F15A5-363F-4A37-886A-3B7A84B22151}" srcOrd="2" destOrd="0" presId="urn:microsoft.com/office/officeart/2018/5/layout/IconLeafLabelList"/>
    <dgm:cxn modelId="{20C2F4CF-9D3D-4440-9C8D-CCFB3209AED0}" type="presParOf" srcId="{84DF9E0E-3113-4CBB-B5E1-2E05DF91A067}" destId="{FD31DA81-874B-4543-8413-1480946070E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82C123-7352-43A2-9A9B-011A0CB3F9C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68BE27-5A4C-404D-8F6F-9FA316D92C35}">
      <dgm:prSet/>
      <dgm:spPr>
        <a:solidFill>
          <a:schemeClr val="bg1"/>
        </a:solidFill>
      </dgm:spPr>
      <dgm:t>
        <a:bodyPr/>
        <a:lstStyle/>
        <a:p>
          <a:r>
            <a:rPr lang="fr-FR" b="0" i="0" dirty="0"/>
            <a:t> </a:t>
          </a:r>
          <a:r>
            <a:rPr lang="fr-FR" b="0" i="0" dirty="0">
              <a:solidFill>
                <a:schemeClr val="tx1"/>
              </a:solidFill>
            </a:rPr>
            <a:t>Limites des méthodes traditionnelles d’authentification et de gestion des abonnements</a:t>
          </a:r>
          <a:endParaRPr lang="en-US" dirty="0">
            <a:solidFill>
              <a:schemeClr val="tx1"/>
            </a:solidFill>
          </a:endParaRPr>
        </a:p>
      </dgm:t>
    </dgm:pt>
    <dgm:pt modelId="{20C54B2D-A9DC-4629-AE48-AB764F820584}" type="parTrans" cxnId="{9BE41084-4EE7-4282-A083-70BC167AC837}">
      <dgm:prSet/>
      <dgm:spPr/>
      <dgm:t>
        <a:bodyPr/>
        <a:lstStyle/>
        <a:p>
          <a:endParaRPr lang="en-US"/>
        </a:p>
      </dgm:t>
    </dgm:pt>
    <dgm:pt modelId="{F38F19D0-A8C5-4EAA-8196-64DDA3F8A7E3}" type="sibTrans" cxnId="{9BE41084-4EE7-4282-A083-70BC167AC837}">
      <dgm:prSet/>
      <dgm:spPr/>
      <dgm:t>
        <a:bodyPr/>
        <a:lstStyle/>
        <a:p>
          <a:endParaRPr lang="en-US"/>
        </a:p>
      </dgm:t>
    </dgm:pt>
    <dgm:pt modelId="{EE55C981-0C46-43CA-8DB6-04203AE99C96}" type="pres">
      <dgm:prSet presAssocID="{0082C123-7352-43A2-9A9B-011A0CB3F9C0}" presName="diagram" presStyleCnt="0">
        <dgm:presLayoutVars>
          <dgm:dir/>
          <dgm:resizeHandles val="exact"/>
        </dgm:presLayoutVars>
      </dgm:prSet>
      <dgm:spPr/>
    </dgm:pt>
    <dgm:pt modelId="{7088922D-A9B5-4080-A231-9F4C6C69A43E}" type="pres">
      <dgm:prSet presAssocID="{5068BE27-5A4C-404D-8F6F-9FA316D92C35}" presName="node" presStyleLbl="node1" presStyleIdx="0" presStyleCnt="1" custScaleX="100000" custScaleY="44184" custLinFactNeighborX="19589" custLinFactNeighborY="5516">
        <dgm:presLayoutVars>
          <dgm:bulletEnabled val="1"/>
        </dgm:presLayoutVars>
      </dgm:prSet>
      <dgm:spPr/>
    </dgm:pt>
  </dgm:ptLst>
  <dgm:cxnLst>
    <dgm:cxn modelId="{B56DB00C-F660-40DB-98F8-1188B03FF37A}" type="presOf" srcId="{5068BE27-5A4C-404D-8F6F-9FA316D92C35}" destId="{7088922D-A9B5-4080-A231-9F4C6C69A43E}" srcOrd="0" destOrd="0" presId="urn:microsoft.com/office/officeart/2005/8/layout/default"/>
    <dgm:cxn modelId="{9BE41084-4EE7-4282-A083-70BC167AC837}" srcId="{0082C123-7352-43A2-9A9B-011A0CB3F9C0}" destId="{5068BE27-5A4C-404D-8F6F-9FA316D92C35}" srcOrd="0" destOrd="0" parTransId="{20C54B2D-A9DC-4629-AE48-AB764F820584}" sibTransId="{F38F19D0-A8C5-4EAA-8196-64DDA3F8A7E3}"/>
    <dgm:cxn modelId="{45383FE4-F4E7-47C8-B2CD-78B42181981B}" type="presOf" srcId="{0082C123-7352-43A2-9A9B-011A0CB3F9C0}" destId="{EE55C981-0C46-43CA-8DB6-04203AE99C96}" srcOrd="0" destOrd="0" presId="urn:microsoft.com/office/officeart/2005/8/layout/default"/>
    <dgm:cxn modelId="{4B4C8AFF-B43A-42FC-A87F-A00CDAF5BC55}" type="presParOf" srcId="{EE55C981-0C46-43CA-8DB6-04203AE99C96}" destId="{7088922D-A9B5-4080-A231-9F4C6C69A43E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3AC3B3-DB44-4B93-93EC-2774293B8A5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764F73-794C-42B8-9E0D-ABD69687F610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sz="33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Objectif global : </a:t>
          </a:r>
        </a:p>
        <a:p>
          <a:pPr>
            <a:lnSpc>
              <a:spcPct val="100000"/>
            </a:lnSpc>
            <a:defRPr b="1"/>
          </a:pPr>
          <a:r>
            <a:rPr lang="fr-FR" sz="14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Développer une solution multimodale pour l’enregistrement  et l’identification des abonnés</a:t>
          </a:r>
          <a:endParaRPr lang="en-US" sz="14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C460C5DD-87B8-4E5D-96A1-6D85E9F47DF5}" type="parTrans" cxnId="{3B697392-EF09-4035-B76B-439D65E964B9}">
      <dgm:prSet/>
      <dgm:spPr/>
      <dgm:t>
        <a:bodyPr/>
        <a:lstStyle/>
        <a:p>
          <a:endParaRPr lang="en-US"/>
        </a:p>
      </dgm:t>
    </dgm:pt>
    <dgm:pt modelId="{F358C073-5122-4534-95BB-502E87B4DAFE}" type="sibTrans" cxnId="{3B697392-EF09-4035-B76B-439D65E964B9}">
      <dgm:prSet/>
      <dgm:spPr/>
      <dgm:t>
        <a:bodyPr/>
        <a:lstStyle/>
        <a:p>
          <a:endParaRPr lang="en-US"/>
        </a:p>
      </dgm:t>
    </dgm:pt>
    <dgm:pt modelId="{3D9B989F-0415-46A3-B1C5-A549EB4C09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b="1" i="0" dirty="0"/>
            <a:t>Objectifs spécifiques</a:t>
          </a:r>
          <a:r>
            <a:rPr lang="fr-FR" b="0" i="0" dirty="0"/>
            <a:t> :</a:t>
          </a:r>
          <a:endParaRPr lang="en-US" dirty="0"/>
        </a:p>
      </dgm:t>
    </dgm:pt>
    <dgm:pt modelId="{54630006-66C2-406F-B778-AA2DA5503322}" type="parTrans" cxnId="{E5AE4765-309F-4865-8D88-5B60B37A3865}">
      <dgm:prSet/>
      <dgm:spPr/>
      <dgm:t>
        <a:bodyPr/>
        <a:lstStyle/>
        <a:p>
          <a:endParaRPr lang="en-US"/>
        </a:p>
      </dgm:t>
    </dgm:pt>
    <dgm:pt modelId="{341459D1-EC5C-42EF-B75C-557C3F5CACCA}" type="sibTrans" cxnId="{E5AE4765-309F-4865-8D88-5B60B37A3865}">
      <dgm:prSet/>
      <dgm:spPr/>
      <dgm:t>
        <a:bodyPr/>
        <a:lstStyle/>
        <a:p>
          <a:endParaRPr lang="en-US"/>
        </a:p>
      </dgm:t>
    </dgm:pt>
    <dgm:pt modelId="{944067B6-B56E-4A0E-8BAC-C6DEA107F25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b="0" i="0" dirty="0"/>
            <a:t>Implémenter un système d’OCR</a:t>
          </a:r>
          <a:endParaRPr lang="en-US" sz="1400" dirty="0"/>
        </a:p>
      </dgm:t>
    </dgm:pt>
    <dgm:pt modelId="{26082873-95A7-45A3-A134-43C5E1729E7F}" type="parTrans" cxnId="{8BEF6F3B-87C9-4195-8FAA-771F25455B91}">
      <dgm:prSet/>
      <dgm:spPr/>
      <dgm:t>
        <a:bodyPr/>
        <a:lstStyle/>
        <a:p>
          <a:endParaRPr lang="en-US"/>
        </a:p>
      </dgm:t>
    </dgm:pt>
    <dgm:pt modelId="{DA233958-9CE1-4621-A357-1A418D792D21}" type="sibTrans" cxnId="{8BEF6F3B-87C9-4195-8FAA-771F25455B91}">
      <dgm:prSet/>
      <dgm:spPr/>
      <dgm:t>
        <a:bodyPr/>
        <a:lstStyle/>
        <a:p>
          <a:endParaRPr lang="en-US"/>
        </a:p>
      </dgm:t>
    </dgm:pt>
    <dgm:pt modelId="{BB912CA1-37E0-4815-8D0B-71CF36E2C03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b="0" i="0" dirty="0"/>
            <a:t>Concevoir un système de reconnaissance faciale</a:t>
          </a:r>
          <a:endParaRPr lang="en-US" sz="1400" dirty="0"/>
        </a:p>
      </dgm:t>
    </dgm:pt>
    <dgm:pt modelId="{D141A809-D7A1-4CA7-B187-16497CDEABB7}" type="parTrans" cxnId="{96B6E1BD-26A3-42B3-BA73-AFA0EB261E7E}">
      <dgm:prSet/>
      <dgm:spPr/>
      <dgm:t>
        <a:bodyPr/>
        <a:lstStyle/>
        <a:p>
          <a:endParaRPr lang="en-US"/>
        </a:p>
      </dgm:t>
    </dgm:pt>
    <dgm:pt modelId="{C299D189-5D35-4343-A1F4-A2EDBDC1766F}" type="sibTrans" cxnId="{96B6E1BD-26A3-42B3-BA73-AFA0EB261E7E}">
      <dgm:prSet/>
      <dgm:spPr/>
      <dgm:t>
        <a:bodyPr/>
        <a:lstStyle/>
        <a:p>
          <a:endParaRPr lang="en-US"/>
        </a:p>
      </dgm:t>
    </dgm:pt>
    <dgm:pt modelId="{2780B81C-36C1-45DE-98B6-D8F7EFD922B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b="0" i="0" dirty="0"/>
            <a:t>Ajouter un module de reconnaissance vocale</a:t>
          </a:r>
          <a:endParaRPr lang="en-US" sz="1400" dirty="0"/>
        </a:p>
      </dgm:t>
    </dgm:pt>
    <dgm:pt modelId="{44A37ECC-6788-4C51-B917-17CD855000F8}" type="parTrans" cxnId="{44BF34AF-A99E-47A8-BA78-1181FDE65C83}">
      <dgm:prSet/>
      <dgm:spPr/>
      <dgm:t>
        <a:bodyPr/>
        <a:lstStyle/>
        <a:p>
          <a:endParaRPr lang="en-US"/>
        </a:p>
      </dgm:t>
    </dgm:pt>
    <dgm:pt modelId="{7C5D8545-1D83-4261-8A56-D65F3C956BEF}" type="sibTrans" cxnId="{44BF34AF-A99E-47A8-BA78-1181FDE65C83}">
      <dgm:prSet/>
      <dgm:spPr/>
      <dgm:t>
        <a:bodyPr/>
        <a:lstStyle/>
        <a:p>
          <a:endParaRPr lang="en-US"/>
        </a:p>
      </dgm:t>
    </dgm:pt>
    <dgm:pt modelId="{DEAB5CA0-2CCA-4601-AC61-9C96CFE39DF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b="0" i="0" dirty="0"/>
            <a:t>Combiner les trois modalités</a:t>
          </a:r>
          <a:endParaRPr lang="en-US" sz="1400" dirty="0"/>
        </a:p>
      </dgm:t>
    </dgm:pt>
    <dgm:pt modelId="{64DA0943-AB0C-4E77-ABBC-EE2040C12FAC}" type="parTrans" cxnId="{B30A2450-EDE6-475B-B4F2-11B628F22C60}">
      <dgm:prSet/>
      <dgm:spPr/>
      <dgm:t>
        <a:bodyPr/>
        <a:lstStyle/>
        <a:p>
          <a:endParaRPr lang="en-US"/>
        </a:p>
      </dgm:t>
    </dgm:pt>
    <dgm:pt modelId="{BEBEAC50-7463-4C60-BDDC-34E39BC644DE}" type="sibTrans" cxnId="{B30A2450-EDE6-475B-B4F2-11B628F22C60}">
      <dgm:prSet/>
      <dgm:spPr/>
      <dgm:t>
        <a:bodyPr/>
        <a:lstStyle/>
        <a:p>
          <a:endParaRPr lang="en-US"/>
        </a:p>
      </dgm:t>
    </dgm:pt>
    <dgm:pt modelId="{A7D4EF64-6301-4076-81E9-906D7F698F9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b="0" i="0" dirty="0"/>
            <a:t>Évaluer les performances du système</a:t>
          </a:r>
          <a:endParaRPr lang="en-US" sz="1400" dirty="0"/>
        </a:p>
      </dgm:t>
    </dgm:pt>
    <dgm:pt modelId="{8415B721-3FFB-4208-8078-98215CA777D1}" type="parTrans" cxnId="{E0EE712D-54F9-4A5F-B09C-BCE302BD5A7A}">
      <dgm:prSet/>
      <dgm:spPr/>
      <dgm:t>
        <a:bodyPr/>
        <a:lstStyle/>
        <a:p>
          <a:endParaRPr lang="en-US"/>
        </a:p>
      </dgm:t>
    </dgm:pt>
    <dgm:pt modelId="{A0B26EA4-3D46-47EA-BC4A-99C4E6B7EB32}" type="sibTrans" cxnId="{E0EE712D-54F9-4A5F-B09C-BCE302BD5A7A}">
      <dgm:prSet/>
      <dgm:spPr/>
      <dgm:t>
        <a:bodyPr/>
        <a:lstStyle/>
        <a:p>
          <a:endParaRPr lang="en-US"/>
        </a:p>
      </dgm:t>
    </dgm:pt>
    <dgm:pt modelId="{39DAF5F3-AFB8-41FB-B074-0B7E49360F5E}" type="pres">
      <dgm:prSet presAssocID="{5E3AC3B3-DB44-4B93-93EC-2774293B8A51}" presName="root" presStyleCnt="0">
        <dgm:presLayoutVars>
          <dgm:dir/>
          <dgm:resizeHandles val="exact"/>
        </dgm:presLayoutVars>
      </dgm:prSet>
      <dgm:spPr/>
    </dgm:pt>
    <dgm:pt modelId="{7A019379-E95F-4D08-A07B-24720C0DAB27}" type="pres">
      <dgm:prSet presAssocID="{8B764F73-794C-42B8-9E0D-ABD69687F610}" presName="compNode" presStyleCnt="0"/>
      <dgm:spPr/>
    </dgm:pt>
    <dgm:pt modelId="{9E323C78-878C-4BF7-A383-87CBD3245A42}" type="pres">
      <dgm:prSet presAssocID="{8B764F73-794C-42B8-9E0D-ABD69687F61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ilisateurs"/>
        </a:ext>
      </dgm:extLst>
    </dgm:pt>
    <dgm:pt modelId="{C1802315-3672-499F-B818-ADBF0371B270}" type="pres">
      <dgm:prSet presAssocID="{8B764F73-794C-42B8-9E0D-ABD69687F610}" presName="iconSpace" presStyleCnt="0"/>
      <dgm:spPr/>
    </dgm:pt>
    <dgm:pt modelId="{F7B68B3F-0911-4BA8-9A97-E5F6AC8F890D}" type="pres">
      <dgm:prSet presAssocID="{8B764F73-794C-42B8-9E0D-ABD69687F610}" presName="parTx" presStyleLbl="revTx" presStyleIdx="0" presStyleCnt="4">
        <dgm:presLayoutVars>
          <dgm:chMax val="0"/>
          <dgm:chPref val="0"/>
        </dgm:presLayoutVars>
      </dgm:prSet>
      <dgm:spPr/>
    </dgm:pt>
    <dgm:pt modelId="{D646D635-EE1F-4ED0-8A01-F79A9F8A082C}" type="pres">
      <dgm:prSet presAssocID="{8B764F73-794C-42B8-9E0D-ABD69687F610}" presName="txSpace" presStyleCnt="0"/>
      <dgm:spPr/>
    </dgm:pt>
    <dgm:pt modelId="{FC57D9FB-9425-4A51-AF5F-CF5308317D99}" type="pres">
      <dgm:prSet presAssocID="{8B764F73-794C-42B8-9E0D-ABD69687F610}" presName="desTx" presStyleLbl="revTx" presStyleIdx="1" presStyleCnt="4">
        <dgm:presLayoutVars/>
      </dgm:prSet>
      <dgm:spPr/>
    </dgm:pt>
    <dgm:pt modelId="{3EC17A6C-BAFB-4368-9DB2-ED075C6B6E99}" type="pres">
      <dgm:prSet presAssocID="{F358C073-5122-4534-95BB-502E87B4DAFE}" presName="sibTrans" presStyleCnt="0"/>
      <dgm:spPr/>
    </dgm:pt>
    <dgm:pt modelId="{FB86C9A2-C3ED-4972-9C5C-7989A50CEDAB}" type="pres">
      <dgm:prSet presAssocID="{3D9B989F-0415-46A3-B1C5-A549EB4C0927}" presName="compNode" presStyleCnt="0"/>
      <dgm:spPr/>
    </dgm:pt>
    <dgm:pt modelId="{7782BCF5-AFC3-4631-B7DF-34AF365E51B8}" type="pres">
      <dgm:prSet presAssocID="{3D9B989F-0415-46A3-B1C5-A549EB4C092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ble"/>
        </a:ext>
      </dgm:extLst>
    </dgm:pt>
    <dgm:pt modelId="{AC6715AA-DD74-426E-AC79-7670E6AE43D7}" type="pres">
      <dgm:prSet presAssocID="{3D9B989F-0415-46A3-B1C5-A549EB4C0927}" presName="iconSpace" presStyleCnt="0"/>
      <dgm:spPr/>
    </dgm:pt>
    <dgm:pt modelId="{0A1970E3-8BCC-4C1F-B564-99198650522F}" type="pres">
      <dgm:prSet presAssocID="{3D9B989F-0415-46A3-B1C5-A549EB4C0927}" presName="parTx" presStyleLbl="revTx" presStyleIdx="2" presStyleCnt="4">
        <dgm:presLayoutVars>
          <dgm:chMax val="0"/>
          <dgm:chPref val="0"/>
        </dgm:presLayoutVars>
      </dgm:prSet>
      <dgm:spPr/>
    </dgm:pt>
    <dgm:pt modelId="{F065A737-4797-43BA-B294-270652629E50}" type="pres">
      <dgm:prSet presAssocID="{3D9B989F-0415-46A3-B1C5-A549EB4C0927}" presName="txSpace" presStyleCnt="0"/>
      <dgm:spPr/>
    </dgm:pt>
    <dgm:pt modelId="{D162E0C6-D921-4CB1-84DC-B58F82C56DA0}" type="pres">
      <dgm:prSet presAssocID="{3D9B989F-0415-46A3-B1C5-A549EB4C0927}" presName="desTx" presStyleLbl="revTx" presStyleIdx="3" presStyleCnt="4">
        <dgm:presLayoutVars/>
      </dgm:prSet>
      <dgm:spPr/>
    </dgm:pt>
  </dgm:ptLst>
  <dgm:cxnLst>
    <dgm:cxn modelId="{E0EE712D-54F9-4A5F-B09C-BCE302BD5A7A}" srcId="{3D9B989F-0415-46A3-B1C5-A549EB4C0927}" destId="{A7D4EF64-6301-4076-81E9-906D7F698F97}" srcOrd="4" destOrd="0" parTransId="{8415B721-3FFB-4208-8078-98215CA777D1}" sibTransId="{A0B26EA4-3D46-47EA-BC4A-99C4E6B7EB32}"/>
    <dgm:cxn modelId="{F5BFFE38-6E56-4347-9FA5-EC8CD1FBC0F2}" type="presOf" srcId="{944067B6-B56E-4A0E-8BAC-C6DEA107F257}" destId="{D162E0C6-D921-4CB1-84DC-B58F82C56DA0}" srcOrd="0" destOrd="0" presId="urn:microsoft.com/office/officeart/2018/2/layout/IconLabelDescriptionList"/>
    <dgm:cxn modelId="{8BEF6F3B-87C9-4195-8FAA-771F25455B91}" srcId="{3D9B989F-0415-46A3-B1C5-A549EB4C0927}" destId="{944067B6-B56E-4A0E-8BAC-C6DEA107F257}" srcOrd="0" destOrd="0" parTransId="{26082873-95A7-45A3-A134-43C5E1729E7F}" sibTransId="{DA233958-9CE1-4621-A357-1A418D792D21}"/>
    <dgm:cxn modelId="{AE1AD263-CF59-4C13-837B-7D181C5DC8B5}" type="presOf" srcId="{5E3AC3B3-DB44-4B93-93EC-2774293B8A51}" destId="{39DAF5F3-AFB8-41FB-B074-0B7E49360F5E}" srcOrd="0" destOrd="0" presId="urn:microsoft.com/office/officeart/2018/2/layout/IconLabelDescriptionList"/>
    <dgm:cxn modelId="{E5AE4765-309F-4865-8D88-5B60B37A3865}" srcId="{5E3AC3B3-DB44-4B93-93EC-2774293B8A51}" destId="{3D9B989F-0415-46A3-B1C5-A549EB4C0927}" srcOrd="1" destOrd="0" parTransId="{54630006-66C2-406F-B778-AA2DA5503322}" sibTransId="{341459D1-EC5C-42EF-B75C-557C3F5CACCA}"/>
    <dgm:cxn modelId="{55B6D145-9A36-4F20-85EF-D1C1294E0C27}" type="presOf" srcId="{3D9B989F-0415-46A3-B1C5-A549EB4C0927}" destId="{0A1970E3-8BCC-4C1F-B564-99198650522F}" srcOrd="0" destOrd="0" presId="urn:microsoft.com/office/officeart/2018/2/layout/IconLabelDescriptionList"/>
    <dgm:cxn modelId="{26B1E346-14EC-49C2-AA22-839F96792C78}" type="presOf" srcId="{DEAB5CA0-2CCA-4601-AC61-9C96CFE39DFD}" destId="{D162E0C6-D921-4CB1-84DC-B58F82C56DA0}" srcOrd="0" destOrd="3" presId="urn:microsoft.com/office/officeart/2018/2/layout/IconLabelDescriptionList"/>
    <dgm:cxn modelId="{B30A2450-EDE6-475B-B4F2-11B628F22C60}" srcId="{3D9B989F-0415-46A3-B1C5-A549EB4C0927}" destId="{DEAB5CA0-2CCA-4601-AC61-9C96CFE39DFD}" srcOrd="3" destOrd="0" parTransId="{64DA0943-AB0C-4E77-ABBC-EE2040C12FAC}" sibTransId="{BEBEAC50-7463-4C60-BDDC-34E39BC644DE}"/>
    <dgm:cxn modelId="{F226837B-949B-4B37-860D-74EDD8F332AA}" type="presOf" srcId="{A7D4EF64-6301-4076-81E9-906D7F698F97}" destId="{D162E0C6-D921-4CB1-84DC-B58F82C56DA0}" srcOrd="0" destOrd="4" presId="urn:microsoft.com/office/officeart/2018/2/layout/IconLabelDescriptionList"/>
    <dgm:cxn modelId="{3B697392-EF09-4035-B76B-439D65E964B9}" srcId="{5E3AC3B3-DB44-4B93-93EC-2774293B8A51}" destId="{8B764F73-794C-42B8-9E0D-ABD69687F610}" srcOrd="0" destOrd="0" parTransId="{C460C5DD-87B8-4E5D-96A1-6D85E9F47DF5}" sibTransId="{F358C073-5122-4534-95BB-502E87B4DAFE}"/>
    <dgm:cxn modelId="{C190C195-462E-421A-8D2E-828883C66CD6}" type="presOf" srcId="{8B764F73-794C-42B8-9E0D-ABD69687F610}" destId="{F7B68B3F-0911-4BA8-9A97-E5F6AC8F890D}" srcOrd="0" destOrd="0" presId="urn:microsoft.com/office/officeart/2018/2/layout/IconLabelDescriptionList"/>
    <dgm:cxn modelId="{44BF34AF-A99E-47A8-BA78-1181FDE65C83}" srcId="{3D9B989F-0415-46A3-B1C5-A549EB4C0927}" destId="{2780B81C-36C1-45DE-98B6-D8F7EFD922BD}" srcOrd="2" destOrd="0" parTransId="{44A37ECC-6788-4C51-B917-17CD855000F8}" sibTransId="{7C5D8545-1D83-4261-8A56-D65F3C956BEF}"/>
    <dgm:cxn modelId="{A1BD86BA-216F-47C6-89A4-ED4516004981}" type="presOf" srcId="{2780B81C-36C1-45DE-98B6-D8F7EFD922BD}" destId="{D162E0C6-D921-4CB1-84DC-B58F82C56DA0}" srcOrd="0" destOrd="2" presId="urn:microsoft.com/office/officeart/2018/2/layout/IconLabelDescriptionList"/>
    <dgm:cxn modelId="{96B6E1BD-26A3-42B3-BA73-AFA0EB261E7E}" srcId="{3D9B989F-0415-46A3-B1C5-A549EB4C0927}" destId="{BB912CA1-37E0-4815-8D0B-71CF36E2C030}" srcOrd="1" destOrd="0" parTransId="{D141A809-D7A1-4CA7-B187-16497CDEABB7}" sibTransId="{C299D189-5D35-4343-A1F4-A2EDBDC1766F}"/>
    <dgm:cxn modelId="{45E170C5-4CC3-4C13-AE63-27113DD6B70A}" type="presOf" srcId="{BB912CA1-37E0-4815-8D0B-71CF36E2C030}" destId="{D162E0C6-D921-4CB1-84DC-B58F82C56DA0}" srcOrd="0" destOrd="1" presId="urn:microsoft.com/office/officeart/2018/2/layout/IconLabelDescriptionList"/>
    <dgm:cxn modelId="{7315E3BF-C8C5-44C2-94C7-0E2D7E49201F}" type="presParOf" srcId="{39DAF5F3-AFB8-41FB-B074-0B7E49360F5E}" destId="{7A019379-E95F-4D08-A07B-24720C0DAB27}" srcOrd="0" destOrd="0" presId="urn:microsoft.com/office/officeart/2018/2/layout/IconLabelDescriptionList"/>
    <dgm:cxn modelId="{A781D3FB-C934-4430-8BDA-BCBF4B8405BF}" type="presParOf" srcId="{7A019379-E95F-4D08-A07B-24720C0DAB27}" destId="{9E323C78-878C-4BF7-A383-87CBD3245A42}" srcOrd="0" destOrd="0" presId="urn:microsoft.com/office/officeart/2018/2/layout/IconLabelDescriptionList"/>
    <dgm:cxn modelId="{32DF10BE-A2A8-4F4A-8B65-65E8E7C146A6}" type="presParOf" srcId="{7A019379-E95F-4D08-A07B-24720C0DAB27}" destId="{C1802315-3672-499F-B818-ADBF0371B270}" srcOrd="1" destOrd="0" presId="urn:microsoft.com/office/officeart/2018/2/layout/IconLabelDescriptionList"/>
    <dgm:cxn modelId="{FDD5DFD8-2597-4276-BEB7-5F5540292347}" type="presParOf" srcId="{7A019379-E95F-4D08-A07B-24720C0DAB27}" destId="{F7B68B3F-0911-4BA8-9A97-E5F6AC8F890D}" srcOrd="2" destOrd="0" presId="urn:microsoft.com/office/officeart/2018/2/layout/IconLabelDescriptionList"/>
    <dgm:cxn modelId="{6C6E03C4-5BEC-4072-A0C5-81E498F19304}" type="presParOf" srcId="{7A019379-E95F-4D08-A07B-24720C0DAB27}" destId="{D646D635-EE1F-4ED0-8A01-F79A9F8A082C}" srcOrd="3" destOrd="0" presId="urn:microsoft.com/office/officeart/2018/2/layout/IconLabelDescriptionList"/>
    <dgm:cxn modelId="{3D63B96B-09D2-44E4-9C88-8F1F4972A8F3}" type="presParOf" srcId="{7A019379-E95F-4D08-A07B-24720C0DAB27}" destId="{FC57D9FB-9425-4A51-AF5F-CF5308317D99}" srcOrd="4" destOrd="0" presId="urn:microsoft.com/office/officeart/2018/2/layout/IconLabelDescriptionList"/>
    <dgm:cxn modelId="{809138C3-7B46-403C-A931-31F8BA5C91D9}" type="presParOf" srcId="{39DAF5F3-AFB8-41FB-B074-0B7E49360F5E}" destId="{3EC17A6C-BAFB-4368-9DB2-ED075C6B6E99}" srcOrd="1" destOrd="0" presId="urn:microsoft.com/office/officeart/2018/2/layout/IconLabelDescriptionList"/>
    <dgm:cxn modelId="{891FCF66-F45A-4769-B7C6-071723D4A5BD}" type="presParOf" srcId="{39DAF5F3-AFB8-41FB-B074-0B7E49360F5E}" destId="{FB86C9A2-C3ED-4972-9C5C-7989A50CEDAB}" srcOrd="2" destOrd="0" presId="urn:microsoft.com/office/officeart/2018/2/layout/IconLabelDescriptionList"/>
    <dgm:cxn modelId="{33368279-6EEB-481A-A186-F47601571E10}" type="presParOf" srcId="{FB86C9A2-C3ED-4972-9C5C-7989A50CEDAB}" destId="{7782BCF5-AFC3-4631-B7DF-34AF365E51B8}" srcOrd="0" destOrd="0" presId="urn:microsoft.com/office/officeart/2018/2/layout/IconLabelDescriptionList"/>
    <dgm:cxn modelId="{1D096CA9-3FF6-4CB8-83ED-A3945A4F3CD5}" type="presParOf" srcId="{FB86C9A2-C3ED-4972-9C5C-7989A50CEDAB}" destId="{AC6715AA-DD74-426E-AC79-7670E6AE43D7}" srcOrd="1" destOrd="0" presId="urn:microsoft.com/office/officeart/2018/2/layout/IconLabelDescriptionList"/>
    <dgm:cxn modelId="{31EF2D0C-7619-45DD-BDED-8C0B435A0FFC}" type="presParOf" srcId="{FB86C9A2-C3ED-4972-9C5C-7989A50CEDAB}" destId="{0A1970E3-8BCC-4C1F-B564-99198650522F}" srcOrd="2" destOrd="0" presId="urn:microsoft.com/office/officeart/2018/2/layout/IconLabelDescriptionList"/>
    <dgm:cxn modelId="{1A660BB3-574A-4925-86E2-F0684511D99C}" type="presParOf" srcId="{FB86C9A2-C3ED-4972-9C5C-7989A50CEDAB}" destId="{F065A737-4797-43BA-B294-270652629E50}" srcOrd="3" destOrd="0" presId="urn:microsoft.com/office/officeart/2018/2/layout/IconLabelDescriptionList"/>
    <dgm:cxn modelId="{8C175F8D-15CF-400E-A410-916D802B9487}" type="presParOf" srcId="{FB86C9A2-C3ED-4972-9C5C-7989A50CEDAB}" destId="{D162E0C6-D921-4CB1-84DC-B58F82C56DA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56DB52-7856-4953-90D3-19EF76039249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4FDB22-A8ED-46AA-8D87-781756C8FF55}">
      <dgm:prSet/>
      <dgm:spPr/>
      <dgm:t>
        <a:bodyPr/>
        <a:lstStyle/>
        <a:p>
          <a:r>
            <a:rPr lang="fr-FR" b="0" i="0" dirty="0"/>
            <a:t>Identification (IAL) </a:t>
          </a:r>
          <a:endParaRPr lang="en-US" dirty="0"/>
        </a:p>
      </dgm:t>
    </dgm:pt>
    <dgm:pt modelId="{FC4B53EE-0016-4A38-8FD6-9BE5C3A06FE2}" type="parTrans" cxnId="{9FF22D74-F27F-4265-903C-816D81735746}">
      <dgm:prSet/>
      <dgm:spPr/>
      <dgm:t>
        <a:bodyPr/>
        <a:lstStyle/>
        <a:p>
          <a:endParaRPr lang="en-US"/>
        </a:p>
      </dgm:t>
    </dgm:pt>
    <dgm:pt modelId="{AD00696E-2167-4E9F-AC73-1CA5EFB24AB4}" type="sibTrans" cxnId="{9FF22D74-F27F-4265-903C-816D81735746}">
      <dgm:prSet/>
      <dgm:spPr/>
      <dgm:t>
        <a:bodyPr/>
        <a:lstStyle/>
        <a:p>
          <a:endParaRPr lang="en-US"/>
        </a:p>
      </dgm:t>
    </dgm:pt>
    <dgm:pt modelId="{1B3CEEBE-A137-479F-8A48-ABA3189CFBA0}">
      <dgm:prSet/>
      <dgm:spPr/>
      <dgm:t>
        <a:bodyPr/>
        <a:lstStyle/>
        <a:p>
          <a:r>
            <a:rPr lang="fr-FR" b="0" i="0"/>
            <a:t>Vérification (VAL)</a:t>
          </a:r>
          <a:endParaRPr lang="en-US"/>
        </a:p>
      </dgm:t>
    </dgm:pt>
    <dgm:pt modelId="{CA05073F-5EC9-46E0-9E89-E0D852DC5374}" type="parTrans" cxnId="{0A1B210A-F953-4D43-BC7E-D6CB6FC0032A}">
      <dgm:prSet/>
      <dgm:spPr/>
      <dgm:t>
        <a:bodyPr/>
        <a:lstStyle/>
        <a:p>
          <a:endParaRPr lang="en-US"/>
        </a:p>
      </dgm:t>
    </dgm:pt>
    <dgm:pt modelId="{37474FF9-0264-4D8C-A883-DBEAD3D20BD7}" type="sibTrans" cxnId="{0A1B210A-F953-4D43-BC7E-D6CB6FC0032A}">
      <dgm:prSet/>
      <dgm:spPr/>
      <dgm:t>
        <a:bodyPr/>
        <a:lstStyle/>
        <a:p>
          <a:endParaRPr lang="en-US"/>
        </a:p>
      </dgm:t>
    </dgm:pt>
    <dgm:pt modelId="{1549880F-9F26-4182-9F08-E810D656D3EE}">
      <dgm:prSet/>
      <dgm:spPr/>
      <dgm:t>
        <a:bodyPr/>
        <a:lstStyle/>
        <a:p>
          <a:r>
            <a:rPr lang="fr-FR" b="0" i="0"/>
            <a:t>Classification</a:t>
          </a:r>
          <a:endParaRPr lang="en-US"/>
        </a:p>
      </dgm:t>
    </dgm:pt>
    <dgm:pt modelId="{E2E75BDD-8D2F-41AB-96E8-2D4432D8AC6F}" type="parTrans" cxnId="{D45EDC2C-3A76-4460-8349-8E52A52B6287}">
      <dgm:prSet/>
      <dgm:spPr/>
      <dgm:t>
        <a:bodyPr/>
        <a:lstStyle/>
        <a:p>
          <a:endParaRPr lang="en-US"/>
        </a:p>
      </dgm:t>
    </dgm:pt>
    <dgm:pt modelId="{DA136EB3-A4B8-4B5C-9566-630434FA27C2}" type="sibTrans" cxnId="{D45EDC2C-3A76-4460-8349-8E52A52B6287}">
      <dgm:prSet/>
      <dgm:spPr/>
      <dgm:t>
        <a:bodyPr/>
        <a:lstStyle/>
        <a:p>
          <a:endParaRPr lang="en-US"/>
        </a:p>
      </dgm:t>
    </dgm:pt>
    <dgm:pt modelId="{B084B64D-330B-4594-AFDD-363A2C3AFD93}">
      <dgm:prSet/>
      <dgm:spPr/>
      <dgm:t>
        <a:bodyPr/>
        <a:lstStyle/>
        <a:p>
          <a:r>
            <a:rPr lang="fr-FR" dirty="0"/>
            <a:t>Segmentation automatique du locuteur</a:t>
          </a:r>
          <a:endParaRPr lang="en-US" dirty="0"/>
        </a:p>
      </dgm:t>
    </dgm:pt>
    <dgm:pt modelId="{29367575-4F1E-4EAA-842E-F09BED1321E2}" type="parTrans" cxnId="{73469A3B-39DC-439F-98DF-352C53D7ABE8}">
      <dgm:prSet/>
      <dgm:spPr/>
      <dgm:t>
        <a:bodyPr/>
        <a:lstStyle/>
        <a:p>
          <a:endParaRPr lang="en-US"/>
        </a:p>
      </dgm:t>
    </dgm:pt>
    <dgm:pt modelId="{45303635-75C4-4EBB-ACEC-E3C472B39A5E}" type="sibTrans" cxnId="{73469A3B-39DC-439F-98DF-352C53D7ABE8}">
      <dgm:prSet/>
      <dgm:spPr/>
      <dgm:t>
        <a:bodyPr/>
        <a:lstStyle/>
        <a:p>
          <a:endParaRPr lang="en-US"/>
        </a:p>
      </dgm:t>
    </dgm:pt>
    <dgm:pt modelId="{B9C01813-1BA4-4EAD-A70C-FEA71ECB943E}">
      <dgm:prSet/>
      <dgm:spPr/>
      <dgm:t>
        <a:bodyPr/>
        <a:lstStyle/>
        <a:p>
          <a:r>
            <a:rPr lang="fr-FR"/>
            <a:t>Détection et le suivi automatique du locuteur</a:t>
          </a:r>
          <a:endParaRPr lang="en-US"/>
        </a:p>
      </dgm:t>
    </dgm:pt>
    <dgm:pt modelId="{172EC582-E7D2-44D6-B8EE-7F01F8D1B125}" type="parTrans" cxnId="{AB7D60E1-100D-4728-944F-3276548847C1}">
      <dgm:prSet/>
      <dgm:spPr/>
      <dgm:t>
        <a:bodyPr/>
        <a:lstStyle/>
        <a:p>
          <a:endParaRPr lang="en-US"/>
        </a:p>
      </dgm:t>
    </dgm:pt>
    <dgm:pt modelId="{32B9567A-85B1-43D5-B1B9-C296CBF89FD3}" type="sibTrans" cxnId="{AB7D60E1-100D-4728-944F-3276548847C1}">
      <dgm:prSet/>
      <dgm:spPr/>
      <dgm:t>
        <a:bodyPr/>
        <a:lstStyle/>
        <a:p>
          <a:endParaRPr lang="en-US"/>
        </a:p>
      </dgm:t>
    </dgm:pt>
    <dgm:pt modelId="{60D4E8BD-862B-431D-B668-8251B5CFE2D0}" type="pres">
      <dgm:prSet presAssocID="{8656DB52-7856-4953-90D3-19EF76039249}" presName="cycle" presStyleCnt="0">
        <dgm:presLayoutVars>
          <dgm:dir/>
          <dgm:resizeHandles val="exact"/>
        </dgm:presLayoutVars>
      </dgm:prSet>
      <dgm:spPr/>
    </dgm:pt>
    <dgm:pt modelId="{9203656B-C3F3-4E60-A4AE-2B232AEE05CC}" type="pres">
      <dgm:prSet presAssocID="{E44FDB22-A8ED-46AA-8D87-781756C8FF55}" presName="node" presStyleLbl="node1" presStyleIdx="0" presStyleCnt="5">
        <dgm:presLayoutVars>
          <dgm:bulletEnabled val="1"/>
        </dgm:presLayoutVars>
      </dgm:prSet>
      <dgm:spPr/>
    </dgm:pt>
    <dgm:pt modelId="{20232011-DE01-45BE-9DFC-F6129632BA1C}" type="pres">
      <dgm:prSet presAssocID="{E44FDB22-A8ED-46AA-8D87-781756C8FF55}" presName="spNode" presStyleCnt="0"/>
      <dgm:spPr/>
    </dgm:pt>
    <dgm:pt modelId="{D7CDCEBE-789F-4123-A17B-2DECAB5C7F7D}" type="pres">
      <dgm:prSet presAssocID="{AD00696E-2167-4E9F-AC73-1CA5EFB24AB4}" presName="sibTrans" presStyleLbl="sibTrans1D1" presStyleIdx="0" presStyleCnt="5"/>
      <dgm:spPr/>
    </dgm:pt>
    <dgm:pt modelId="{4081C505-A885-4D36-8906-4D9B16A09289}" type="pres">
      <dgm:prSet presAssocID="{1B3CEEBE-A137-479F-8A48-ABA3189CFBA0}" presName="node" presStyleLbl="node1" presStyleIdx="1" presStyleCnt="5">
        <dgm:presLayoutVars>
          <dgm:bulletEnabled val="1"/>
        </dgm:presLayoutVars>
      </dgm:prSet>
      <dgm:spPr/>
    </dgm:pt>
    <dgm:pt modelId="{7D21AFAE-EF80-4462-921A-E779603EA17C}" type="pres">
      <dgm:prSet presAssocID="{1B3CEEBE-A137-479F-8A48-ABA3189CFBA0}" presName="spNode" presStyleCnt="0"/>
      <dgm:spPr/>
    </dgm:pt>
    <dgm:pt modelId="{7C7E1138-A1DE-4838-A68C-984981A061EA}" type="pres">
      <dgm:prSet presAssocID="{37474FF9-0264-4D8C-A883-DBEAD3D20BD7}" presName="sibTrans" presStyleLbl="sibTrans1D1" presStyleIdx="1" presStyleCnt="5"/>
      <dgm:spPr/>
    </dgm:pt>
    <dgm:pt modelId="{34F3B524-62FE-48E0-857D-76FCDF55D11A}" type="pres">
      <dgm:prSet presAssocID="{1549880F-9F26-4182-9F08-E810D656D3EE}" presName="node" presStyleLbl="node1" presStyleIdx="2" presStyleCnt="5">
        <dgm:presLayoutVars>
          <dgm:bulletEnabled val="1"/>
        </dgm:presLayoutVars>
      </dgm:prSet>
      <dgm:spPr/>
    </dgm:pt>
    <dgm:pt modelId="{C0B021BB-0EA2-4872-A74D-AE27F8B433AF}" type="pres">
      <dgm:prSet presAssocID="{1549880F-9F26-4182-9F08-E810D656D3EE}" presName="spNode" presStyleCnt="0"/>
      <dgm:spPr/>
    </dgm:pt>
    <dgm:pt modelId="{D90F8C08-130D-410B-8F11-09A273F20490}" type="pres">
      <dgm:prSet presAssocID="{DA136EB3-A4B8-4B5C-9566-630434FA27C2}" presName="sibTrans" presStyleLbl="sibTrans1D1" presStyleIdx="2" presStyleCnt="5"/>
      <dgm:spPr/>
    </dgm:pt>
    <dgm:pt modelId="{36A23CDC-EFD7-48BC-88B0-388487560AF5}" type="pres">
      <dgm:prSet presAssocID="{B084B64D-330B-4594-AFDD-363A2C3AFD93}" presName="node" presStyleLbl="node1" presStyleIdx="3" presStyleCnt="5">
        <dgm:presLayoutVars>
          <dgm:bulletEnabled val="1"/>
        </dgm:presLayoutVars>
      </dgm:prSet>
      <dgm:spPr/>
    </dgm:pt>
    <dgm:pt modelId="{E808D112-07C9-41F8-9063-EE28B3792567}" type="pres">
      <dgm:prSet presAssocID="{B084B64D-330B-4594-AFDD-363A2C3AFD93}" presName="spNode" presStyleCnt="0"/>
      <dgm:spPr/>
    </dgm:pt>
    <dgm:pt modelId="{605E5A40-AABE-44A8-AA4F-5A7F3A178F02}" type="pres">
      <dgm:prSet presAssocID="{45303635-75C4-4EBB-ACEC-E3C472B39A5E}" presName="sibTrans" presStyleLbl="sibTrans1D1" presStyleIdx="3" presStyleCnt="5"/>
      <dgm:spPr/>
    </dgm:pt>
    <dgm:pt modelId="{E288BF3E-4A53-4C6C-A09F-D13E1BF69C1E}" type="pres">
      <dgm:prSet presAssocID="{B9C01813-1BA4-4EAD-A70C-FEA71ECB943E}" presName="node" presStyleLbl="node1" presStyleIdx="4" presStyleCnt="5">
        <dgm:presLayoutVars>
          <dgm:bulletEnabled val="1"/>
        </dgm:presLayoutVars>
      </dgm:prSet>
      <dgm:spPr/>
    </dgm:pt>
    <dgm:pt modelId="{D065C9E0-D519-4733-9F63-63BE17223DCD}" type="pres">
      <dgm:prSet presAssocID="{B9C01813-1BA4-4EAD-A70C-FEA71ECB943E}" presName="spNode" presStyleCnt="0"/>
      <dgm:spPr/>
    </dgm:pt>
    <dgm:pt modelId="{DE363D3A-8EA6-46BE-B0F2-246B8E22C3F1}" type="pres">
      <dgm:prSet presAssocID="{32B9567A-85B1-43D5-B1B9-C296CBF89FD3}" presName="sibTrans" presStyleLbl="sibTrans1D1" presStyleIdx="4" presStyleCnt="5"/>
      <dgm:spPr/>
    </dgm:pt>
  </dgm:ptLst>
  <dgm:cxnLst>
    <dgm:cxn modelId="{0A1B210A-F953-4D43-BC7E-D6CB6FC0032A}" srcId="{8656DB52-7856-4953-90D3-19EF76039249}" destId="{1B3CEEBE-A137-479F-8A48-ABA3189CFBA0}" srcOrd="1" destOrd="0" parTransId="{CA05073F-5EC9-46E0-9E89-E0D852DC5374}" sibTransId="{37474FF9-0264-4D8C-A883-DBEAD3D20BD7}"/>
    <dgm:cxn modelId="{E6DE7328-C5B9-40BC-BD2E-33D07020C33C}" type="presOf" srcId="{1549880F-9F26-4182-9F08-E810D656D3EE}" destId="{34F3B524-62FE-48E0-857D-76FCDF55D11A}" srcOrd="0" destOrd="0" presId="urn:microsoft.com/office/officeart/2005/8/layout/cycle6"/>
    <dgm:cxn modelId="{D45EDC2C-3A76-4460-8349-8E52A52B6287}" srcId="{8656DB52-7856-4953-90D3-19EF76039249}" destId="{1549880F-9F26-4182-9F08-E810D656D3EE}" srcOrd="2" destOrd="0" parTransId="{E2E75BDD-8D2F-41AB-96E8-2D4432D8AC6F}" sibTransId="{DA136EB3-A4B8-4B5C-9566-630434FA27C2}"/>
    <dgm:cxn modelId="{29139B2F-0EEF-4687-A106-4C69816D6810}" type="presOf" srcId="{32B9567A-85B1-43D5-B1B9-C296CBF89FD3}" destId="{DE363D3A-8EA6-46BE-B0F2-246B8E22C3F1}" srcOrd="0" destOrd="0" presId="urn:microsoft.com/office/officeart/2005/8/layout/cycle6"/>
    <dgm:cxn modelId="{73469A3B-39DC-439F-98DF-352C53D7ABE8}" srcId="{8656DB52-7856-4953-90D3-19EF76039249}" destId="{B084B64D-330B-4594-AFDD-363A2C3AFD93}" srcOrd="3" destOrd="0" parTransId="{29367575-4F1E-4EAA-842E-F09BED1321E2}" sibTransId="{45303635-75C4-4EBB-ACEC-E3C472B39A5E}"/>
    <dgm:cxn modelId="{8C8F6071-E695-4FB6-A057-5EF01497D1F2}" type="presOf" srcId="{DA136EB3-A4B8-4B5C-9566-630434FA27C2}" destId="{D90F8C08-130D-410B-8F11-09A273F20490}" srcOrd="0" destOrd="0" presId="urn:microsoft.com/office/officeart/2005/8/layout/cycle6"/>
    <dgm:cxn modelId="{05011773-892B-41C3-B036-67C00F92B120}" type="presOf" srcId="{E44FDB22-A8ED-46AA-8D87-781756C8FF55}" destId="{9203656B-C3F3-4E60-A4AE-2B232AEE05CC}" srcOrd="0" destOrd="0" presId="urn:microsoft.com/office/officeart/2005/8/layout/cycle6"/>
    <dgm:cxn modelId="{2FBCF953-CD91-4E52-874D-7EBED6244745}" type="presOf" srcId="{37474FF9-0264-4D8C-A883-DBEAD3D20BD7}" destId="{7C7E1138-A1DE-4838-A68C-984981A061EA}" srcOrd="0" destOrd="0" presId="urn:microsoft.com/office/officeart/2005/8/layout/cycle6"/>
    <dgm:cxn modelId="{9FF22D74-F27F-4265-903C-816D81735746}" srcId="{8656DB52-7856-4953-90D3-19EF76039249}" destId="{E44FDB22-A8ED-46AA-8D87-781756C8FF55}" srcOrd="0" destOrd="0" parTransId="{FC4B53EE-0016-4A38-8FD6-9BE5C3A06FE2}" sibTransId="{AD00696E-2167-4E9F-AC73-1CA5EFB24AB4}"/>
    <dgm:cxn modelId="{F374F07D-EFB0-41A5-8502-1FA1336A2C35}" type="presOf" srcId="{AD00696E-2167-4E9F-AC73-1CA5EFB24AB4}" destId="{D7CDCEBE-789F-4123-A17B-2DECAB5C7F7D}" srcOrd="0" destOrd="0" presId="urn:microsoft.com/office/officeart/2005/8/layout/cycle6"/>
    <dgm:cxn modelId="{46A68EA2-0E27-4F97-8E71-2329F40962D5}" type="presOf" srcId="{45303635-75C4-4EBB-ACEC-E3C472B39A5E}" destId="{605E5A40-AABE-44A8-AA4F-5A7F3A178F02}" srcOrd="0" destOrd="0" presId="urn:microsoft.com/office/officeart/2005/8/layout/cycle6"/>
    <dgm:cxn modelId="{63D158B4-47DE-4ED9-B45E-D8DBDFC9B9CC}" type="presOf" srcId="{B9C01813-1BA4-4EAD-A70C-FEA71ECB943E}" destId="{E288BF3E-4A53-4C6C-A09F-D13E1BF69C1E}" srcOrd="0" destOrd="0" presId="urn:microsoft.com/office/officeart/2005/8/layout/cycle6"/>
    <dgm:cxn modelId="{920943C5-AE64-42AC-A69F-44E78D267281}" type="presOf" srcId="{8656DB52-7856-4953-90D3-19EF76039249}" destId="{60D4E8BD-862B-431D-B668-8251B5CFE2D0}" srcOrd="0" destOrd="0" presId="urn:microsoft.com/office/officeart/2005/8/layout/cycle6"/>
    <dgm:cxn modelId="{9052A2C5-93BD-46CB-AF82-9CFB75DBF293}" type="presOf" srcId="{B084B64D-330B-4594-AFDD-363A2C3AFD93}" destId="{36A23CDC-EFD7-48BC-88B0-388487560AF5}" srcOrd="0" destOrd="0" presId="urn:microsoft.com/office/officeart/2005/8/layout/cycle6"/>
    <dgm:cxn modelId="{E0ABCBC6-F14C-4720-994C-B2C0E486FF1B}" type="presOf" srcId="{1B3CEEBE-A137-479F-8A48-ABA3189CFBA0}" destId="{4081C505-A885-4D36-8906-4D9B16A09289}" srcOrd="0" destOrd="0" presId="urn:microsoft.com/office/officeart/2005/8/layout/cycle6"/>
    <dgm:cxn modelId="{AB7D60E1-100D-4728-944F-3276548847C1}" srcId="{8656DB52-7856-4953-90D3-19EF76039249}" destId="{B9C01813-1BA4-4EAD-A70C-FEA71ECB943E}" srcOrd="4" destOrd="0" parTransId="{172EC582-E7D2-44D6-B8EE-7F01F8D1B125}" sibTransId="{32B9567A-85B1-43D5-B1B9-C296CBF89FD3}"/>
    <dgm:cxn modelId="{CEA86083-43B0-408F-B35B-4D9EEAC9BE03}" type="presParOf" srcId="{60D4E8BD-862B-431D-B668-8251B5CFE2D0}" destId="{9203656B-C3F3-4E60-A4AE-2B232AEE05CC}" srcOrd="0" destOrd="0" presId="urn:microsoft.com/office/officeart/2005/8/layout/cycle6"/>
    <dgm:cxn modelId="{80EBCB30-EF72-424C-8D51-76147DD913D3}" type="presParOf" srcId="{60D4E8BD-862B-431D-B668-8251B5CFE2D0}" destId="{20232011-DE01-45BE-9DFC-F6129632BA1C}" srcOrd="1" destOrd="0" presId="urn:microsoft.com/office/officeart/2005/8/layout/cycle6"/>
    <dgm:cxn modelId="{5579EDA8-6614-4D6C-8E9E-E8E57B22261C}" type="presParOf" srcId="{60D4E8BD-862B-431D-B668-8251B5CFE2D0}" destId="{D7CDCEBE-789F-4123-A17B-2DECAB5C7F7D}" srcOrd="2" destOrd="0" presId="urn:microsoft.com/office/officeart/2005/8/layout/cycle6"/>
    <dgm:cxn modelId="{5753C3B7-DF41-470D-A0A8-728E3725AB2A}" type="presParOf" srcId="{60D4E8BD-862B-431D-B668-8251B5CFE2D0}" destId="{4081C505-A885-4D36-8906-4D9B16A09289}" srcOrd="3" destOrd="0" presId="urn:microsoft.com/office/officeart/2005/8/layout/cycle6"/>
    <dgm:cxn modelId="{945CF834-B2B3-4F35-9246-936F3FE86CA2}" type="presParOf" srcId="{60D4E8BD-862B-431D-B668-8251B5CFE2D0}" destId="{7D21AFAE-EF80-4462-921A-E779603EA17C}" srcOrd="4" destOrd="0" presId="urn:microsoft.com/office/officeart/2005/8/layout/cycle6"/>
    <dgm:cxn modelId="{4B0A7D84-0F8D-46B7-88A1-C10EAD3623D0}" type="presParOf" srcId="{60D4E8BD-862B-431D-B668-8251B5CFE2D0}" destId="{7C7E1138-A1DE-4838-A68C-984981A061EA}" srcOrd="5" destOrd="0" presId="urn:microsoft.com/office/officeart/2005/8/layout/cycle6"/>
    <dgm:cxn modelId="{279323CE-A828-4B15-9300-6421F66F8079}" type="presParOf" srcId="{60D4E8BD-862B-431D-B668-8251B5CFE2D0}" destId="{34F3B524-62FE-48E0-857D-76FCDF55D11A}" srcOrd="6" destOrd="0" presId="urn:microsoft.com/office/officeart/2005/8/layout/cycle6"/>
    <dgm:cxn modelId="{BB82BAD3-E78C-4BBB-823E-50C19252E632}" type="presParOf" srcId="{60D4E8BD-862B-431D-B668-8251B5CFE2D0}" destId="{C0B021BB-0EA2-4872-A74D-AE27F8B433AF}" srcOrd="7" destOrd="0" presId="urn:microsoft.com/office/officeart/2005/8/layout/cycle6"/>
    <dgm:cxn modelId="{50FA0EE8-8992-4648-A170-FD25E3A3CFFC}" type="presParOf" srcId="{60D4E8BD-862B-431D-B668-8251B5CFE2D0}" destId="{D90F8C08-130D-410B-8F11-09A273F20490}" srcOrd="8" destOrd="0" presId="urn:microsoft.com/office/officeart/2005/8/layout/cycle6"/>
    <dgm:cxn modelId="{701F5364-9CF9-4AC5-BDB6-EBC4789ECA87}" type="presParOf" srcId="{60D4E8BD-862B-431D-B668-8251B5CFE2D0}" destId="{36A23CDC-EFD7-48BC-88B0-388487560AF5}" srcOrd="9" destOrd="0" presId="urn:microsoft.com/office/officeart/2005/8/layout/cycle6"/>
    <dgm:cxn modelId="{3E6F530D-9160-46DB-BCF0-42CE13CB5D3B}" type="presParOf" srcId="{60D4E8BD-862B-431D-B668-8251B5CFE2D0}" destId="{E808D112-07C9-41F8-9063-EE28B3792567}" srcOrd="10" destOrd="0" presId="urn:microsoft.com/office/officeart/2005/8/layout/cycle6"/>
    <dgm:cxn modelId="{1A939443-F979-4EAC-85C5-0F7F51D98B9A}" type="presParOf" srcId="{60D4E8BD-862B-431D-B668-8251B5CFE2D0}" destId="{605E5A40-AABE-44A8-AA4F-5A7F3A178F02}" srcOrd="11" destOrd="0" presId="urn:microsoft.com/office/officeart/2005/8/layout/cycle6"/>
    <dgm:cxn modelId="{F4CADB52-82E8-4139-A0C4-1602701E9351}" type="presParOf" srcId="{60D4E8BD-862B-431D-B668-8251B5CFE2D0}" destId="{E288BF3E-4A53-4C6C-A09F-D13E1BF69C1E}" srcOrd="12" destOrd="0" presId="urn:microsoft.com/office/officeart/2005/8/layout/cycle6"/>
    <dgm:cxn modelId="{39661960-2812-495B-B4E5-FB2497FA45C2}" type="presParOf" srcId="{60D4E8BD-862B-431D-B668-8251B5CFE2D0}" destId="{D065C9E0-D519-4733-9F63-63BE17223DCD}" srcOrd="13" destOrd="0" presId="urn:microsoft.com/office/officeart/2005/8/layout/cycle6"/>
    <dgm:cxn modelId="{B7EA9A2E-4B23-4108-B84A-54CD7E71FD2C}" type="presParOf" srcId="{60D4E8BD-862B-431D-B668-8251B5CFE2D0}" destId="{DE363D3A-8EA6-46BE-B0F2-246B8E22C3F1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57E0B-8F96-4388-81B5-1B9AEE8F21E2}">
      <dsp:nvSpPr>
        <dsp:cNvPr id="0" name=""/>
        <dsp:cNvSpPr/>
      </dsp:nvSpPr>
      <dsp:spPr>
        <a:xfrm>
          <a:off x="3365345" y="849019"/>
          <a:ext cx="6536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3647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75063" y="891318"/>
        <a:ext cx="34212" cy="6842"/>
      </dsp:txXfrm>
    </dsp:sp>
    <dsp:sp modelId="{D733FB15-F19D-4C2A-B9F8-AF081D9AC03D}">
      <dsp:nvSpPr>
        <dsp:cNvPr id="0" name=""/>
        <dsp:cNvSpPr/>
      </dsp:nvSpPr>
      <dsp:spPr>
        <a:xfrm>
          <a:off x="392157" y="2242"/>
          <a:ext cx="2974988" cy="17849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777" tIns="153019" rIns="145777" bIns="15301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i="0" kern="1200"/>
            <a:t>Introduction générale</a:t>
          </a:r>
          <a:endParaRPr lang="en-US" sz="2600" kern="1200"/>
        </a:p>
      </dsp:txBody>
      <dsp:txXfrm>
        <a:off x="392157" y="2242"/>
        <a:ext cx="2974988" cy="1784992"/>
      </dsp:txXfrm>
    </dsp:sp>
    <dsp:sp modelId="{24253996-84A9-41FB-BC44-413310EBFFE3}">
      <dsp:nvSpPr>
        <dsp:cNvPr id="0" name=""/>
        <dsp:cNvSpPr/>
      </dsp:nvSpPr>
      <dsp:spPr>
        <a:xfrm>
          <a:off x="7024581" y="849019"/>
          <a:ext cx="6536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3647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34298" y="891318"/>
        <a:ext cx="34212" cy="6842"/>
      </dsp:txXfrm>
    </dsp:sp>
    <dsp:sp modelId="{0D387B6B-C996-4F99-87B2-568E3824BDDF}">
      <dsp:nvSpPr>
        <dsp:cNvPr id="0" name=""/>
        <dsp:cNvSpPr/>
      </dsp:nvSpPr>
      <dsp:spPr>
        <a:xfrm>
          <a:off x="4051392" y="2242"/>
          <a:ext cx="2974988" cy="1784992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777" tIns="153019" rIns="145777" bIns="15301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i="0" kern="1200"/>
            <a:t>État de l’art de l’identification biométrique</a:t>
          </a:r>
          <a:endParaRPr lang="en-US" sz="2600" kern="1200"/>
        </a:p>
      </dsp:txBody>
      <dsp:txXfrm>
        <a:off x="4051392" y="2242"/>
        <a:ext cx="2974988" cy="1784992"/>
      </dsp:txXfrm>
    </dsp:sp>
    <dsp:sp modelId="{6A4C7471-7AC5-4E2A-8C48-80388930DD40}">
      <dsp:nvSpPr>
        <dsp:cNvPr id="0" name=""/>
        <dsp:cNvSpPr/>
      </dsp:nvSpPr>
      <dsp:spPr>
        <a:xfrm>
          <a:off x="1856506" y="1785435"/>
          <a:ext cx="7341616" cy="607344"/>
        </a:xfrm>
        <a:custGeom>
          <a:avLst/>
          <a:gdLst/>
          <a:ahLst/>
          <a:cxnLst/>
          <a:rect l="0" t="0" r="0" b="0"/>
          <a:pathLst>
            <a:path>
              <a:moveTo>
                <a:pt x="7341616" y="0"/>
              </a:moveTo>
              <a:lnTo>
                <a:pt x="7341616" y="320772"/>
              </a:lnTo>
              <a:lnTo>
                <a:pt x="0" y="320772"/>
              </a:lnTo>
              <a:lnTo>
                <a:pt x="0" y="607344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43082" y="2085686"/>
        <a:ext cx="368464" cy="6842"/>
      </dsp:txXfrm>
    </dsp:sp>
    <dsp:sp modelId="{8FB3914D-3986-4E03-9BDE-598CB0FA3EEA}">
      <dsp:nvSpPr>
        <dsp:cNvPr id="0" name=""/>
        <dsp:cNvSpPr/>
      </dsp:nvSpPr>
      <dsp:spPr>
        <a:xfrm>
          <a:off x="7710628" y="2242"/>
          <a:ext cx="2974988" cy="1784992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777" tIns="153019" rIns="145777" bIns="15301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i="0" kern="1200"/>
            <a:t>État de l’art de la reconnaissance optique de caractère</a:t>
          </a:r>
          <a:endParaRPr lang="en-US" sz="2600" kern="1200"/>
        </a:p>
      </dsp:txBody>
      <dsp:txXfrm>
        <a:off x="7710628" y="2242"/>
        <a:ext cx="2974988" cy="1784992"/>
      </dsp:txXfrm>
    </dsp:sp>
    <dsp:sp modelId="{FC422975-E75F-4AE6-B62D-7BBE03488867}">
      <dsp:nvSpPr>
        <dsp:cNvPr id="0" name=""/>
        <dsp:cNvSpPr/>
      </dsp:nvSpPr>
      <dsp:spPr>
        <a:xfrm>
          <a:off x="3342200" y="3271956"/>
          <a:ext cx="6767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496" y="45720"/>
              </a:lnTo>
              <a:lnTo>
                <a:pt x="355496" y="92022"/>
              </a:lnTo>
              <a:lnTo>
                <a:pt x="676792" y="92022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62873" y="3314255"/>
        <a:ext cx="35445" cy="6842"/>
      </dsp:txXfrm>
    </dsp:sp>
    <dsp:sp modelId="{D5C3BD8E-4934-4445-B58E-921AB875CD0A}">
      <dsp:nvSpPr>
        <dsp:cNvPr id="0" name=""/>
        <dsp:cNvSpPr/>
      </dsp:nvSpPr>
      <dsp:spPr>
        <a:xfrm>
          <a:off x="369012" y="2425180"/>
          <a:ext cx="2974988" cy="1784992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777" tIns="153019" rIns="145777" bIns="15301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 err="1"/>
            <a:t>Modélisation</a:t>
          </a:r>
          <a:endParaRPr lang="en-US" sz="2600" b="1" kern="1200" dirty="0"/>
        </a:p>
      </dsp:txBody>
      <dsp:txXfrm>
        <a:off x="369012" y="2425180"/>
        <a:ext cx="2974988" cy="1784992"/>
      </dsp:txXfrm>
    </dsp:sp>
    <dsp:sp modelId="{AEB11745-6215-4CE6-99A3-3275DA08232F}">
      <dsp:nvSpPr>
        <dsp:cNvPr id="0" name=""/>
        <dsp:cNvSpPr/>
      </dsp:nvSpPr>
      <dsp:spPr>
        <a:xfrm>
          <a:off x="7024581" y="3318259"/>
          <a:ext cx="6536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3647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34298" y="3360558"/>
        <a:ext cx="34212" cy="6842"/>
      </dsp:txXfrm>
    </dsp:sp>
    <dsp:sp modelId="{EF601D30-1EA3-49AF-9036-F9B73B2CCF3A}">
      <dsp:nvSpPr>
        <dsp:cNvPr id="0" name=""/>
        <dsp:cNvSpPr/>
      </dsp:nvSpPr>
      <dsp:spPr>
        <a:xfrm>
          <a:off x="4051392" y="2471483"/>
          <a:ext cx="2974988" cy="1784992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777" tIns="153019" rIns="145777" bIns="15301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i="0" kern="1200" dirty="0"/>
            <a:t>Résultats et démonstration </a:t>
          </a:r>
          <a:endParaRPr lang="en-US" sz="2600" kern="1200" dirty="0"/>
        </a:p>
      </dsp:txBody>
      <dsp:txXfrm>
        <a:off x="4051392" y="2471483"/>
        <a:ext cx="2974988" cy="1784992"/>
      </dsp:txXfrm>
    </dsp:sp>
    <dsp:sp modelId="{6786F41C-F9C5-4C98-B037-F06EB98BA708}">
      <dsp:nvSpPr>
        <dsp:cNvPr id="0" name=""/>
        <dsp:cNvSpPr/>
      </dsp:nvSpPr>
      <dsp:spPr>
        <a:xfrm>
          <a:off x="7710628" y="2471483"/>
          <a:ext cx="2974988" cy="178499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777" tIns="153019" rIns="145777" bIns="15301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i="0" kern="1200"/>
            <a:t>Conclusion et perspectives</a:t>
          </a:r>
          <a:endParaRPr lang="en-US" sz="2600" kern="1200"/>
        </a:p>
      </dsp:txBody>
      <dsp:txXfrm>
        <a:off x="7710628" y="2471483"/>
        <a:ext cx="2974988" cy="17849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DDA21-BB15-4D7A-81B5-793143C4EF79}">
      <dsp:nvSpPr>
        <dsp:cNvPr id="0" name=""/>
        <dsp:cNvSpPr/>
      </dsp:nvSpPr>
      <dsp:spPr>
        <a:xfrm>
          <a:off x="2521454" y="889697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CD467-7A0A-4840-A3A4-DF08AAD93B3C}">
      <dsp:nvSpPr>
        <dsp:cNvPr id="0" name=""/>
        <dsp:cNvSpPr/>
      </dsp:nvSpPr>
      <dsp:spPr>
        <a:xfrm>
          <a:off x="2989454" y="1357697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5EA72-B8F2-4C81-838D-9B8662DFE197}">
      <dsp:nvSpPr>
        <dsp:cNvPr id="0" name=""/>
        <dsp:cNvSpPr/>
      </dsp:nvSpPr>
      <dsp:spPr>
        <a:xfrm>
          <a:off x="1819454" y="376969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b="1" i="0" kern="1200" dirty="0"/>
            <a:t>Contexte</a:t>
          </a:r>
          <a:r>
            <a:rPr lang="fr-FR" sz="1200" b="0" i="0" kern="1200" dirty="0"/>
            <a:t> : Importance de l’ IDENTIFICATION  des     utilisateurs D’un service</a:t>
          </a:r>
          <a:endParaRPr lang="en-US" sz="1200" kern="1200" dirty="0"/>
        </a:p>
      </dsp:txBody>
      <dsp:txXfrm>
        <a:off x="1819454" y="3769698"/>
        <a:ext cx="3600000" cy="720000"/>
      </dsp:txXfrm>
    </dsp:sp>
    <dsp:sp modelId="{C970772F-DD89-42F3-8CA2-AD697E0D85FE}">
      <dsp:nvSpPr>
        <dsp:cNvPr id="0" name=""/>
        <dsp:cNvSpPr/>
      </dsp:nvSpPr>
      <dsp:spPr>
        <a:xfrm>
          <a:off x="6751455" y="889697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0AB86C-A854-4C19-92FE-5F34788F1181}">
      <dsp:nvSpPr>
        <dsp:cNvPr id="0" name=""/>
        <dsp:cNvSpPr/>
      </dsp:nvSpPr>
      <dsp:spPr>
        <a:xfrm>
          <a:off x="7219455" y="1357697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1DA81-874B-4543-8413-1480946070E6}">
      <dsp:nvSpPr>
        <dsp:cNvPr id="0" name=""/>
        <dsp:cNvSpPr/>
      </dsp:nvSpPr>
      <dsp:spPr>
        <a:xfrm>
          <a:off x="6049455" y="376969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b="1" i="0" kern="1200" dirty="0"/>
            <a:t>Justification</a:t>
          </a:r>
          <a:r>
            <a:rPr lang="fr-FR" sz="1200" b="0" i="0" kern="1200" dirty="0"/>
            <a:t> : Besoin de </a:t>
          </a:r>
          <a:r>
            <a:rPr lang="fr-FR" sz="1200" b="0" i="0" kern="1200" dirty="0" err="1"/>
            <a:t>developper</a:t>
          </a:r>
          <a:r>
            <a:rPr lang="fr-FR" sz="1200" b="0" i="0" kern="1200" dirty="0"/>
            <a:t> systèmes rapides et précis pour l’enregistrement et l’identification des abonnés D’un service</a:t>
          </a:r>
          <a:endParaRPr lang="en-US" sz="1200" kern="1200" dirty="0"/>
        </a:p>
      </dsp:txBody>
      <dsp:txXfrm>
        <a:off x="6049455" y="3769698"/>
        <a:ext cx="36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8922D-A9B5-4080-A231-9F4C6C69A43E}">
      <dsp:nvSpPr>
        <dsp:cNvPr id="0" name=""/>
        <dsp:cNvSpPr/>
      </dsp:nvSpPr>
      <dsp:spPr>
        <a:xfrm>
          <a:off x="213495" y="823"/>
          <a:ext cx="6216486" cy="1648015"/>
        </a:xfrm>
        <a:prstGeom prst="rect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b="0" i="0" kern="1200" dirty="0"/>
            <a:t> </a:t>
          </a:r>
          <a:r>
            <a:rPr lang="fr-FR" sz="3300" b="0" i="0" kern="1200" dirty="0">
              <a:solidFill>
                <a:schemeClr val="tx1"/>
              </a:solidFill>
            </a:rPr>
            <a:t>Limites des méthodes traditionnelles d’authentification et de gestion des abonnements</a:t>
          </a:r>
          <a:endParaRPr lang="en-US" sz="3300" kern="1200" dirty="0">
            <a:solidFill>
              <a:schemeClr val="tx1"/>
            </a:solidFill>
          </a:endParaRPr>
        </a:p>
      </dsp:txBody>
      <dsp:txXfrm>
        <a:off x="213495" y="823"/>
        <a:ext cx="6216486" cy="16480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23C78-878C-4BF7-A383-87CBD3245A42}">
      <dsp:nvSpPr>
        <dsp:cNvPr id="0" name=""/>
        <dsp:cNvSpPr/>
      </dsp:nvSpPr>
      <dsp:spPr>
        <a:xfrm>
          <a:off x="478031" y="8931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68B3F-0911-4BA8-9A97-E5F6AC8F890D}">
      <dsp:nvSpPr>
        <dsp:cNvPr id="0" name=""/>
        <dsp:cNvSpPr/>
      </dsp:nvSpPr>
      <dsp:spPr>
        <a:xfrm>
          <a:off x="478031" y="1786659"/>
          <a:ext cx="4320000" cy="113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33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Objectif global : </a:t>
          </a:r>
        </a:p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Développer une solution multimodale pour l’enregistrement  et l’identification des abonnés</a:t>
          </a:r>
          <a:endParaRPr lang="en-US" sz="14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478031" y="1786659"/>
        <a:ext cx="4320000" cy="1134000"/>
      </dsp:txXfrm>
    </dsp:sp>
    <dsp:sp modelId="{FC57D9FB-9425-4A51-AF5F-CF5308317D99}">
      <dsp:nvSpPr>
        <dsp:cNvPr id="0" name=""/>
        <dsp:cNvSpPr/>
      </dsp:nvSpPr>
      <dsp:spPr>
        <a:xfrm>
          <a:off x="478031" y="3006864"/>
          <a:ext cx="4320000" cy="1392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2BCF5-AFC3-4631-B7DF-34AF365E51B8}">
      <dsp:nvSpPr>
        <dsp:cNvPr id="0" name=""/>
        <dsp:cNvSpPr/>
      </dsp:nvSpPr>
      <dsp:spPr>
        <a:xfrm>
          <a:off x="5554031" y="8931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970E3-8BCC-4C1F-B564-99198650522F}">
      <dsp:nvSpPr>
        <dsp:cNvPr id="0" name=""/>
        <dsp:cNvSpPr/>
      </dsp:nvSpPr>
      <dsp:spPr>
        <a:xfrm>
          <a:off x="5554031" y="1786659"/>
          <a:ext cx="4320000" cy="113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3600" b="1" i="0" kern="1200" dirty="0"/>
            <a:t>Objectifs spécifiques</a:t>
          </a:r>
          <a:r>
            <a:rPr lang="fr-FR" sz="3600" b="0" i="0" kern="1200" dirty="0"/>
            <a:t> :</a:t>
          </a:r>
          <a:endParaRPr lang="en-US" sz="3600" kern="1200" dirty="0"/>
        </a:p>
      </dsp:txBody>
      <dsp:txXfrm>
        <a:off x="5554031" y="1786659"/>
        <a:ext cx="4320000" cy="1134000"/>
      </dsp:txXfrm>
    </dsp:sp>
    <dsp:sp modelId="{D162E0C6-D921-4CB1-84DC-B58F82C56DA0}">
      <dsp:nvSpPr>
        <dsp:cNvPr id="0" name=""/>
        <dsp:cNvSpPr/>
      </dsp:nvSpPr>
      <dsp:spPr>
        <a:xfrm>
          <a:off x="5554031" y="3006864"/>
          <a:ext cx="4320000" cy="1392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Implémenter un système d’OCR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Concevoir un système de reconnaissance faciale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Ajouter un module de reconnaissance vocale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Combiner les trois modalités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Évaluer les performances du système</a:t>
          </a:r>
          <a:endParaRPr lang="en-US" sz="1400" kern="1200" dirty="0"/>
        </a:p>
      </dsp:txBody>
      <dsp:txXfrm>
        <a:off x="5554031" y="3006864"/>
        <a:ext cx="4320000" cy="13927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03656B-C3F3-4E60-A4AE-2B232AEE05CC}">
      <dsp:nvSpPr>
        <dsp:cNvPr id="0" name=""/>
        <dsp:cNvSpPr/>
      </dsp:nvSpPr>
      <dsp:spPr>
        <a:xfrm>
          <a:off x="3099754" y="1324"/>
          <a:ext cx="1486080" cy="9659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i="0" kern="1200" dirty="0"/>
            <a:t>Identification (IAL) </a:t>
          </a:r>
          <a:endParaRPr lang="en-US" sz="1300" kern="1200" dirty="0"/>
        </a:p>
      </dsp:txBody>
      <dsp:txXfrm>
        <a:off x="3146908" y="48478"/>
        <a:ext cx="1391772" cy="871644"/>
      </dsp:txXfrm>
    </dsp:sp>
    <dsp:sp modelId="{D7CDCEBE-789F-4123-A17B-2DECAB5C7F7D}">
      <dsp:nvSpPr>
        <dsp:cNvPr id="0" name=""/>
        <dsp:cNvSpPr/>
      </dsp:nvSpPr>
      <dsp:spPr>
        <a:xfrm>
          <a:off x="1910999" y="484300"/>
          <a:ext cx="3863590" cy="3863590"/>
        </a:xfrm>
        <a:custGeom>
          <a:avLst/>
          <a:gdLst/>
          <a:ahLst/>
          <a:cxnLst/>
          <a:rect l="0" t="0" r="0" b="0"/>
          <a:pathLst>
            <a:path>
              <a:moveTo>
                <a:pt x="2685068" y="152915"/>
              </a:moveTo>
              <a:arcTo wR="1931795" hR="1931795" stAng="17577025" swAng="1963894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81C505-A885-4D36-8906-4D9B16A09289}">
      <dsp:nvSpPr>
        <dsp:cNvPr id="0" name=""/>
        <dsp:cNvSpPr/>
      </dsp:nvSpPr>
      <dsp:spPr>
        <a:xfrm>
          <a:off x="4937000" y="1336162"/>
          <a:ext cx="1486080" cy="9659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i="0" kern="1200"/>
            <a:t>Vérification (VAL)</a:t>
          </a:r>
          <a:endParaRPr lang="en-US" sz="1300" kern="1200"/>
        </a:p>
      </dsp:txBody>
      <dsp:txXfrm>
        <a:off x="4984154" y="1383316"/>
        <a:ext cx="1391772" cy="871644"/>
      </dsp:txXfrm>
    </dsp:sp>
    <dsp:sp modelId="{7C7E1138-A1DE-4838-A68C-984981A061EA}">
      <dsp:nvSpPr>
        <dsp:cNvPr id="0" name=""/>
        <dsp:cNvSpPr/>
      </dsp:nvSpPr>
      <dsp:spPr>
        <a:xfrm>
          <a:off x="1910999" y="484300"/>
          <a:ext cx="3863590" cy="3863590"/>
        </a:xfrm>
        <a:custGeom>
          <a:avLst/>
          <a:gdLst/>
          <a:ahLst/>
          <a:cxnLst/>
          <a:rect l="0" t="0" r="0" b="0"/>
          <a:pathLst>
            <a:path>
              <a:moveTo>
                <a:pt x="3860915" y="1830171"/>
              </a:moveTo>
              <a:arcTo wR="1931795" hR="1931795" stAng="21419072" swAng="2198114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F3B524-62FE-48E0-857D-76FCDF55D11A}">
      <dsp:nvSpPr>
        <dsp:cNvPr id="0" name=""/>
        <dsp:cNvSpPr/>
      </dsp:nvSpPr>
      <dsp:spPr>
        <a:xfrm>
          <a:off x="4235234" y="3495974"/>
          <a:ext cx="1486080" cy="9659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i="0" kern="1200"/>
            <a:t>Classification</a:t>
          </a:r>
          <a:endParaRPr lang="en-US" sz="1300" kern="1200"/>
        </a:p>
      </dsp:txBody>
      <dsp:txXfrm>
        <a:off x="4282388" y="3543128"/>
        <a:ext cx="1391772" cy="871644"/>
      </dsp:txXfrm>
    </dsp:sp>
    <dsp:sp modelId="{D90F8C08-130D-410B-8F11-09A273F20490}">
      <dsp:nvSpPr>
        <dsp:cNvPr id="0" name=""/>
        <dsp:cNvSpPr/>
      </dsp:nvSpPr>
      <dsp:spPr>
        <a:xfrm>
          <a:off x="1910999" y="484300"/>
          <a:ext cx="3863590" cy="3863590"/>
        </a:xfrm>
        <a:custGeom>
          <a:avLst/>
          <a:gdLst/>
          <a:ahLst/>
          <a:cxnLst/>
          <a:rect l="0" t="0" r="0" b="0"/>
          <a:pathLst>
            <a:path>
              <a:moveTo>
                <a:pt x="2316547" y="3824887"/>
              </a:moveTo>
              <a:arcTo wR="1931795" hR="1931795" stAng="4710701" swAng="1378598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A23CDC-EFD7-48BC-88B0-388487560AF5}">
      <dsp:nvSpPr>
        <dsp:cNvPr id="0" name=""/>
        <dsp:cNvSpPr/>
      </dsp:nvSpPr>
      <dsp:spPr>
        <a:xfrm>
          <a:off x="1964273" y="3495974"/>
          <a:ext cx="1486080" cy="9659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Segmentation automatique du locuteur</a:t>
          </a:r>
          <a:endParaRPr lang="en-US" sz="1300" kern="1200" dirty="0"/>
        </a:p>
      </dsp:txBody>
      <dsp:txXfrm>
        <a:off x="2011427" y="3543128"/>
        <a:ext cx="1391772" cy="871644"/>
      </dsp:txXfrm>
    </dsp:sp>
    <dsp:sp modelId="{605E5A40-AABE-44A8-AA4F-5A7F3A178F02}">
      <dsp:nvSpPr>
        <dsp:cNvPr id="0" name=""/>
        <dsp:cNvSpPr/>
      </dsp:nvSpPr>
      <dsp:spPr>
        <a:xfrm>
          <a:off x="1910999" y="484300"/>
          <a:ext cx="3863590" cy="3863590"/>
        </a:xfrm>
        <a:custGeom>
          <a:avLst/>
          <a:gdLst/>
          <a:ahLst/>
          <a:cxnLst/>
          <a:rect l="0" t="0" r="0" b="0"/>
          <a:pathLst>
            <a:path>
              <a:moveTo>
                <a:pt x="323130" y="3001388"/>
              </a:moveTo>
              <a:arcTo wR="1931795" hR="1931795" stAng="8782815" swAng="2198114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88BF3E-4A53-4C6C-A09F-D13E1BF69C1E}">
      <dsp:nvSpPr>
        <dsp:cNvPr id="0" name=""/>
        <dsp:cNvSpPr/>
      </dsp:nvSpPr>
      <dsp:spPr>
        <a:xfrm>
          <a:off x="1262507" y="1336162"/>
          <a:ext cx="1486080" cy="9659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Détection et le suivi automatique du locuteur</a:t>
          </a:r>
          <a:endParaRPr lang="en-US" sz="1300" kern="1200"/>
        </a:p>
      </dsp:txBody>
      <dsp:txXfrm>
        <a:off x="1309661" y="1383316"/>
        <a:ext cx="1391772" cy="871644"/>
      </dsp:txXfrm>
    </dsp:sp>
    <dsp:sp modelId="{DE363D3A-8EA6-46BE-B0F2-246B8E22C3F1}">
      <dsp:nvSpPr>
        <dsp:cNvPr id="0" name=""/>
        <dsp:cNvSpPr/>
      </dsp:nvSpPr>
      <dsp:spPr>
        <a:xfrm>
          <a:off x="1910999" y="484300"/>
          <a:ext cx="3863590" cy="3863590"/>
        </a:xfrm>
        <a:custGeom>
          <a:avLst/>
          <a:gdLst/>
          <a:ahLst/>
          <a:cxnLst/>
          <a:rect l="0" t="0" r="0" b="0"/>
          <a:pathLst>
            <a:path>
              <a:moveTo>
                <a:pt x="336284" y="842676"/>
              </a:moveTo>
              <a:arcTo wR="1931795" hR="1931795" stAng="12859081" swAng="1963894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1FFCE-11DF-4457-A7B7-A9D3EA922728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A3C3B-ADFE-43B2-97B2-906D3A1BC2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131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6581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743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sujet s’inscris dans le contexte actuel </a:t>
            </a:r>
          </a:p>
          <a:p>
            <a:endParaRPr lang="fr-FR" dirty="0"/>
          </a:p>
          <a:p>
            <a:r>
              <a:rPr lang="fr-FR" dirty="0"/>
              <a:t>D’où</a:t>
            </a:r>
          </a:p>
          <a:p>
            <a:endParaRPr lang="fr-FR" dirty="0"/>
          </a:p>
          <a:p>
            <a:r>
              <a:rPr lang="fr-FR" dirty="0"/>
              <a:t>Ce contexte met en évidence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9135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178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4503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68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caractéristique est qualifiée de biométrique lorsqu’elle remplit les critères suivants :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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Universalité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cette caractéristique doit exister chez chaque individu que l’on souhaite identifier.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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Unicité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la caractéristique doit être unique à chaque individu dans la base de données, sans possibilité de confusion.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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Permanence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elle doit être stable et rester identique tout au long de la vie de la personne.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"/>
            </a:pPr>
            <a:r>
              <a:rPr lang="fr-FR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Collectabilité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la caractéristique doit être mesurable et enregistrable pour pouvoir être comparée.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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Acceptabilité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elle doit pouvoir être facilement recueillie et ne doit pas poser de problème majeur d’acceptation pour les individus concernés.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b="1" dirty="0"/>
              <a:t>Haute sécurité</a:t>
            </a:r>
            <a:r>
              <a:rPr lang="fr-FR" dirty="0"/>
              <a:t> : La biométrie permet une sécurité accrue en utilisant des caractéristiques uniques et difficiles à usurper, comme les traits du visage et la voix.</a:t>
            </a:r>
          </a:p>
          <a:p>
            <a:r>
              <a:rPr lang="fr-FR" b="1" dirty="0"/>
              <a:t>Réduction des coûts</a:t>
            </a:r>
            <a:r>
              <a:rPr lang="fr-FR" dirty="0"/>
              <a:t> : En éliminant la gestion de mots de passe, la biométrie diminue les coûts associés à la gestion de l'authentification, notamment les coûts liés aux pertes ou réinitialisations de mots de passe.</a:t>
            </a:r>
          </a:p>
          <a:p>
            <a:r>
              <a:rPr lang="fr-FR" b="1" dirty="0"/>
              <a:t>Réduction de la fraude</a:t>
            </a:r>
            <a:r>
              <a:rPr lang="fr-FR" dirty="0"/>
              <a:t> : La biométrie offre une meilleure protection contre la fraude grâce à l'unicité des traits physiologiques, comme la voix et le visage, qui ne peuvent pas être facilement falsifiés.</a:t>
            </a:r>
          </a:p>
          <a:p>
            <a:r>
              <a:rPr lang="fr-FR" b="1" dirty="0"/>
              <a:t>Identification rapide</a:t>
            </a:r>
            <a:r>
              <a:rPr lang="fr-FR" dirty="0"/>
              <a:t> : Les systèmes biométriques permettent d'identifier rapidement des individus, ce qui améliore l'efficacité des systèmes d'accès et réduit le temps de traitement.</a:t>
            </a:r>
          </a:p>
          <a:p>
            <a:r>
              <a:rPr lang="fr-FR" b="1" dirty="0"/>
              <a:t>Élimination des problèmes de perte d'accès</a:t>
            </a:r>
            <a:r>
              <a:rPr lang="fr-FR" dirty="0"/>
              <a:t> : Les traits biométriques remplacent les codes d'accès ou mots de passe qui peuvent être oubliés ou perdus, rendant les systèmes plus fiables.</a:t>
            </a:r>
          </a:p>
          <a:p>
            <a:r>
              <a:rPr lang="fr-FR" b="1" dirty="0"/>
              <a:t>Praticité</a:t>
            </a:r>
            <a:r>
              <a:rPr lang="fr-FR" dirty="0"/>
              <a:t> : Les systèmes biométriques sont simples à utiliser pour les utilisateurs finaux, réduisant les erreurs humaines liées à l'oubli de mots de passe ou d'informations d'identification.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607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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Enrôlement : 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L’enrôlement est la première étape dans le fonctionnement d'un système biométrique. Il s'agit du processus par lequel un utilisateur est enregistré pour la première fois dans le système..</a:t>
            </a:r>
            <a:b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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Identification : 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L'identification est le processus par lequel un système biométrique compare les données biométriques d'un utilisateur avec l'ensemble des modèles biométriques stockés dans la base de données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"/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Times New Roman" panose="02020603050405020304" pitchFamily="18" charset="0"/>
              <a:buChar char="—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Vérification :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La vérification, aussi appelée authentification, est le processus où le système biométrique vérifie si l'utilisateur est bien celui qu'il prétend être. Contrairement à l'identification, où le système doit déterminer l'identité de l'utilisateur, ici l'utilisateur affirme son identité et le système compare ses données biométriques avec celles déjà enregistrées pour cette identité spécifique.</a:t>
            </a:r>
            <a:r>
              <a:rPr lang="fr-FR" dirty="0">
                <a:effectLst/>
              </a:rPr>
              <a:t> </a:t>
            </a:r>
          </a:p>
          <a:p>
            <a:pPr marL="285750" indent="-285750">
              <a:buFont typeface="Times New Roman" panose="02020603050405020304" pitchFamily="18" charset="0"/>
              <a:buChar char="—"/>
            </a:pPr>
            <a:endParaRPr lang="fr-FR" dirty="0">
              <a:effectLst/>
            </a:endParaRPr>
          </a:p>
          <a:p>
            <a:pPr marL="285750" indent="-285750">
              <a:buFont typeface="Times New Roman" panose="02020603050405020304" pitchFamily="18" charset="0"/>
              <a:buChar char="—"/>
            </a:pPr>
            <a:endParaRPr lang="fr-FR" dirty="0">
              <a:effectLst/>
            </a:endParaRPr>
          </a:p>
          <a:p>
            <a:pPr marL="285750" indent="-285750">
              <a:buFont typeface="Times New Roman" panose="02020603050405020304" pitchFamily="18" charset="0"/>
              <a:buChar char="—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4896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Times New Roman" panose="02020603050405020304" pitchFamily="18" charset="0"/>
              <a:buChar char="—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6128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None/>
              <a:tabLst/>
              <a:defRPr/>
            </a:pPr>
            <a:endParaRPr lang="fr-FR" b="0" i="0" dirty="0">
              <a:solidFill>
                <a:srgbClr val="111111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marL="285750" indent="-285750">
              <a:buFont typeface="Times New Roman" panose="02020603050405020304" pitchFamily="18" charset="0"/>
              <a:buChar char="—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5103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Times New Roman" panose="02020603050405020304" pitchFamily="18" charset="0"/>
              <a:buNone/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Les réseaux de neurones convolutifs (CNN) sont constitués de plusieurs couches interconnectées qui coopèrent pour analyser des images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fr-FR" sz="1800" dirty="0"/>
              <a:t>Un CNN analyse une image en appliquant des filtres qui détectent d’abord des détails simples comme les bords ou les textures, puis des motifs plus complexes comme des formes . Les informations sont ensuite réduites par </a:t>
            </a:r>
            <a:r>
              <a:rPr lang="fr-FR" sz="1800" i="1" dirty="0" err="1"/>
              <a:t>pooling</a:t>
            </a:r>
            <a:r>
              <a:rPr lang="fr-FR" sz="1800" dirty="0"/>
              <a:t> pour gagner en rapidité et en robustesse, avant d’être envoyées à une couche de classification qui identifie l’objet ou le visage.</a:t>
            </a: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4207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Reconnaissance Automatique du Locuteur (RAL)</a:t>
            </a:r>
            <a:endParaRPr lang="fr-FR" dirty="0"/>
          </a:p>
          <a:p>
            <a:r>
              <a:rPr lang="fr-FR" dirty="0"/>
              <a:t>La RAL, ou biométrie vocale, identifie ou vérifie une personne à partir de sa voix.</a:t>
            </a:r>
          </a:p>
          <a:p>
            <a:r>
              <a:rPr lang="fr-FR" dirty="0"/>
              <a:t>À distinguer de la </a:t>
            </a:r>
            <a:r>
              <a:rPr lang="fr-FR" b="1" dirty="0"/>
              <a:t>Reconnaissance Automatique de la Parole (RAP)</a:t>
            </a:r>
            <a:r>
              <a:rPr lang="fr-FR" dirty="0"/>
              <a:t> qui vise à comprendre le contenu parlé.</a:t>
            </a:r>
          </a:p>
          <a:p>
            <a:r>
              <a:rPr lang="fr-FR" b="1" dirty="0"/>
              <a:t>Modes principaux :</a:t>
            </a:r>
            <a:endParaRPr lang="fr-FR" dirty="0"/>
          </a:p>
          <a:p>
            <a:r>
              <a:rPr lang="fr-FR" b="1" dirty="0"/>
              <a:t>IAL – Identification</a:t>
            </a:r>
            <a:r>
              <a:rPr lang="fr-FR" dirty="0"/>
              <a:t> : comparaison de la voix à un ensemble de modèles connus (</a:t>
            </a:r>
            <a:r>
              <a:rPr lang="fr-FR" i="1" dirty="0"/>
              <a:t>ensemble fermé ou ouvert</a:t>
            </a:r>
            <a:r>
              <a:rPr lang="fr-FR" dirty="0"/>
              <a:t>).</a:t>
            </a:r>
          </a:p>
          <a:p>
            <a:r>
              <a:rPr lang="fr-FR" b="1" dirty="0"/>
              <a:t>VAL – Vérification</a:t>
            </a:r>
            <a:r>
              <a:rPr lang="fr-FR" dirty="0"/>
              <a:t> : comparaison de la voix avec le modèle déclaré par l’utilisateur.</a:t>
            </a:r>
          </a:p>
          <a:p>
            <a:r>
              <a:rPr lang="fr-FR" b="1" dirty="0"/>
              <a:t>Classification</a:t>
            </a:r>
            <a:r>
              <a:rPr lang="fr-FR" dirty="0"/>
              <a:t> : regroupement selon des critères comme le </a:t>
            </a:r>
            <a:r>
              <a:rPr lang="fr-FR" b="1" dirty="0"/>
              <a:t>genre</a:t>
            </a:r>
            <a:r>
              <a:rPr lang="fr-FR" dirty="0"/>
              <a:t> ou l’</a:t>
            </a:r>
            <a:r>
              <a:rPr lang="fr-FR" b="1" dirty="0"/>
              <a:t>âge</a:t>
            </a:r>
            <a:r>
              <a:rPr lang="fr-FR" dirty="0"/>
              <a:t>.</a:t>
            </a:r>
          </a:p>
          <a:p>
            <a:r>
              <a:rPr lang="fr-FR" b="1" dirty="0"/>
              <a:t>Segmentation</a:t>
            </a:r>
            <a:r>
              <a:rPr lang="fr-FR" dirty="0"/>
              <a:t> : découper un flux audio en segments correspondant à différents locuteurs.</a:t>
            </a:r>
          </a:p>
          <a:p>
            <a:r>
              <a:rPr lang="fr-FR" b="1" dirty="0"/>
              <a:t>Détection &amp; suivi</a:t>
            </a:r>
            <a:r>
              <a:rPr lang="fr-FR" dirty="0"/>
              <a:t> : combiner segmentation et identification pour reconnaître les locuteurs tout au long d’un flux audio.</a:t>
            </a:r>
          </a:p>
          <a:p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8634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obtenir un spectrogramme, on commence par découper le signal vocal en petites fenêtres de temps</a:t>
            </a:r>
          </a:p>
          <a:p>
            <a:endParaRPr lang="fr-FR" dirty="0"/>
          </a:p>
          <a:p>
            <a:r>
              <a:rPr lang="fr-FR" dirty="0"/>
              <a:t>L’algorithme n’analyse pas l’image comme nous, mais extrait des mesures numériques : coefficients MFCC (</a:t>
            </a:r>
            <a:r>
              <a:rPr lang="fr-FR" i="1" dirty="0"/>
              <a:t>Mel Frequency Cepstral Coefficients</a:t>
            </a:r>
            <a:r>
              <a:rPr lang="fr-FR" dirty="0"/>
              <a:t>), énergie par bande de fréquence, formants, etc.</a:t>
            </a:r>
          </a:p>
          <a:p>
            <a:r>
              <a:rPr lang="fr-FR" dirty="0"/>
              <a:t>Ces valeurs constituent une “empreinte vocale” unique, qui est ensuite utilisée pour l’identification ou la vérification du locuteur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328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 reconnaissance de mots constitue une alternative à la reconnaissance de caractères et repose sur l’identification de mots entiers dans des images. Contrairement à la reconnaissance de caractères, qui classe chaque lettre séparément, les méthodes basées sur la reconnaissance de mots analysent les caractéristiques de l’ensemble du mot avant de procéder à la classification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158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Les méthodes traditionnelles d’OCR reposent sur la reconnaissance individuelle de chaque caractère à l’aide de classifieurs spécifiques et de caractéristiques visuelles définies manuellement (contours, orientation, segments). L’extraction se fait souvent via </a:t>
            </a:r>
            <a:r>
              <a:rPr lang="fr-FR" b="1" dirty="0"/>
              <a:t>fenêtres glissantes</a:t>
            </a:r>
            <a:r>
              <a:rPr lang="fr-FR" dirty="0"/>
              <a:t> ou </a:t>
            </a:r>
            <a:r>
              <a:rPr lang="fr-FR" b="1" dirty="0"/>
              <a:t>détection des composantes connectées</a:t>
            </a:r>
            <a:r>
              <a:rPr lang="fr-FR" dirty="0"/>
              <a:t>, parfois après binarisation de l’image, afin de segmenter les zones contenant du texte.</a:t>
            </a:r>
            <a:br>
              <a:rPr lang="fr-FR" dirty="0"/>
            </a:br>
            <a:br>
              <a:rPr lang="fr-FR" dirty="0"/>
            </a:br>
            <a:r>
              <a:rPr lang="fr-FR" dirty="0"/>
              <a:t>L’OCR commence par le </a:t>
            </a:r>
            <a:r>
              <a:rPr lang="fr-FR" b="1" dirty="0"/>
              <a:t>prétraitement</a:t>
            </a:r>
            <a:r>
              <a:rPr lang="fr-FR" dirty="0"/>
              <a:t> de l’image (réduction du bruit, conversion en niveaux de gris, filtrage).</a:t>
            </a:r>
            <a:br>
              <a:rPr lang="fr-FR" dirty="0"/>
            </a:br>
            <a:r>
              <a:rPr lang="fr-FR" dirty="0"/>
              <a:t>Il détecte ensuite </a:t>
            </a:r>
            <a:r>
              <a:rPr lang="fr-FR" b="1" dirty="0"/>
              <a:t>les lignes, mots et caractères</a:t>
            </a:r>
            <a:r>
              <a:rPr lang="fr-FR" dirty="0"/>
              <a:t>, puis propose une liste de caractères candidats.</a:t>
            </a:r>
            <a:br>
              <a:rPr lang="fr-FR" dirty="0"/>
            </a:br>
            <a:r>
              <a:rPr lang="fr-FR" dirty="0"/>
              <a:t>Enfin, un </a:t>
            </a:r>
            <a:r>
              <a:rPr lang="fr-FR" b="1" dirty="0"/>
              <a:t>post-traitement</a:t>
            </a:r>
            <a:r>
              <a:rPr lang="fr-FR" dirty="0"/>
              <a:t> avec dictionnaire et règles grammaticales permet d’obtenir un texte numérique propre en sortie.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1762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794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4DDCE-AC92-F10B-FAEF-69EC51DA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D1B57A3-411C-68D5-BA9B-5D4ABB0CD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166FCC-C930-4556-28B0-9215E330F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FaceNet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suit trois étapes principales pour la reconnaissance faciale 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Développé par Google en 2015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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Extraction des caractéristiques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Les images faciales sont traitées pour générer un vecteur d'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embedding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128 dimensions. Cet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embedding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capture les caractéristiques uniques du visage de l'utilisateur.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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Comparaison des </a:t>
            </a:r>
            <a:r>
              <a:rPr lang="fr-F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embeddings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Les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embeddings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deux visages sont comparés en utilisant la distance euclidienne. Si cette distance est inférieure à un seuil prédéfini, les visages sont considérés comme appartenant à la même personne.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Classification avec K-</a:t>
            </a:r>
            <a:r>
              <a:rPr lang="fr-F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Nearest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Neighbors (KNN)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 Les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embeddings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générés sont ensuite classés avec l'algorithme KNN, permettant d'identifier le visage en le comparant à une base de données d'images de visages enrôlés</a:t>
            </a:r>
          </a:p>
          <a:p>
            <a:endParaRPr lang="fr-FR" sz="1800" b="1" dirty="0">
              <a:effectLst/>
              <a:latin typeface="Times New Roman" panose="02020603050405020304" pitchFamily="18" charset="0"/>
            </a:endParaRPr>
          </a:p>
          <a:p>
            <a:endParaRPr lang="fr-FR" sz="1800" b="1" dirty="0">
              <a:effectLst/>
              <a:latin typeface="Times New Roman" panose="02020603050405020304" pitchFamily="18" charset="0"/>
            </a:endParaRPr>
          </a:p>
          <a:p>
            <a:r>
              <a:rPr lang="fr-FR" sz="1800" b="1" dirty="0">
                <a:effectLst/>
                <a:latin typeface="Times New Roman" panose="02020603050405020304" pitchFamily="18" charset="0"/>
              </a:rPr>
              <a:t>Wav2vec2.0</a:t>
            </a:r>
          </a:p>
          <a:p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Développé par Facebook AI en 2020</a:t>
            </a:r>
            <a:endParaRPr lang="fr-FR" sz="1800" b="1" dirty="0">
              <a:effectLst/>
              <a:latin typeface="Times New Roman" panose="02020603050405020304" pitchFamily="18" charset="0"/>
            </a:endParaRPr>
          </a:p>
          <a:p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Comme pour la reconnaissance faciale, la voix est convertie en un vecteur d'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embedding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qui est comparé à des données vocales enregistrées</a:t>
            </a:r>
          </a:p>
          <a:p>
            <a:endParaRPr lang="fr-FR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fr-F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EasyOCR</a:t>
            </a:r>
            <a:endParaRPr lang="fr-FR" sz="1800" b="1" dirty="0">
              <a:effectLst/>
              <a:latin typeface="Times New Roman" panose="02020603050405020304" pitchFamily="18" charset="0"/>
            </a:endParaRPr>
          </a:p>
          <a:p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 texte dans une image est segmenté en caractères individuels, qui sont ensuite reconnus grâce à un réseau de neurones convolutifs (CNN).</a:t>
            </a:r>
            <a:endParaRPr lang="fr-FR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68A843-503D-277B-EB41-DF0CC0779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4233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Pr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é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cision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Nombre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Reconnaissances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Correctes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Nombre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Tentatives</m:t>
                          </m:r>
                        </m:den>
                      </m:f>
                      <m:r>
                        <a:rPr lang="fr-FR" sz="1200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</m:t>
                      </m:r>
                    </m:oMath>
                  </m:oMathPara>
                </a14:m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Pr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é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cision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425</m:t>
                          </m:r>
                        </m:num>
                        <m:den>
                          <m: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500</m:t>
                          </m:r>
                        </m:den>
                      </m:f>
                      <m:r>
                        <a:rPr lang="fr-FR" sz="1200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100=85%</m:t>
                      </m:r>
                    </m:oMath>
                  </m:oMathPara>
                </a14:m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				Précision avec des accessoires (lunettes, chapeaux)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Pr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é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cision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350</m:t>
                          </m:r>
                        </m:num>
                        <m:den>
                          <m: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500</m:t>
                          </m:r>
                        </m:den>
                      </m:f>
                      <m:r>
                        <a:rPr lang="fr-FR" sz="1200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100=70%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"Précision</a:t>
                </a: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"="Nombre de Reconnaissances Correctes" /"Nombre Total de Tentatives" ×100</a:t>
                </a: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"Précision</a:t>
                </a: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"=425/500×100=85%</a:t>
                </a: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				Précision avec des accessoires (lunettes, chapeaux)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"Précision</a:t>
                </a: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"=350/500×100=70%</a:t>
                </a:r>
                <a:endParaRPr lang="fr-FR" b="1" dirty="0"/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8170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D4F46-9D44-F895-30DB-83D3C05B6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E556F6-ED40-F752-E268-98C6AAF21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617512D3-8C74-B3C2-6A5D-4C787A5F319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Pr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é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cision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Nombre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Reconnaissances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Correctes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Nombre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120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m:t>Tentatives</m:t>
                          </m:r>
                        </m:den>
                      </m:f>
                      <m:r>
                        <a:rPr lang="fr-FR" sz="1200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</m:t>
                      </m:r>
                    </m:oMath>
                  </m:oMathPara>
                </a14:m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Pr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é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cision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425</m:t>
                          </m:r>
                        </m:num>
                        <m:den>
                          <m: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500</m:t>
                          </m:r>
                        </m:den>
                      </m:f>
                      <m:r>
                        <a:rPr lang="fr-FR" sz="1200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100=85%</m:t>
                      </m:r>
                    </m:oMath>
                  </m:oMathPara>
                </a14:m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				Précision avec des accessoires (lunettes, chapeaux)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Pr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é</m:t>
                      </m:r>
                      <m:r>
                        <m:rPr>
                          <m:nor/>
                        </m:rPr>
                        <a:rPr lang="fr-FR" sz="12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m:t>cision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350</m:t>
                          </m:r>
                        </m:num>
                        <m:den>
                          <m:r>
                            <a:rPr lang="fr-FR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500</m:t>
                          </m:r>
                        </m:den>
                      </m:f>
                      <m:r>
                        <a:rPr lang="fr-FR" sz="1200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100=70%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"Précision</a:t>
                </a: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"="Nombre de Reconnaissances Correctes" /"Nombre Total de Tentatives" ×100</a:t>
                </a: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"Précision</a:t>
                </a: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"=425/500×100=85%</a:t>
                </a: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				Précision avec des accessoires (lunettes, chapeaux)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fr-F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"Précision</a:t>
                </a: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"=350/500×100=70%</a:t>
                </a:r>
                <a:endParaRPr lang="fr-FR" b="1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D25DAA-EE45-2225-E612-85D0AEC24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8139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Nombre de tentatives</a:t>
                </a: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30 (3 enregistrements par utilisateur x 10 utilisateurs)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Taux de réussite</a:t>
                </a: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fr-FR" sz="1200" i="0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28</m:t>
                        </m:r>
                      </m:num>
                      <m:den>
                        <m:r>
                          <a:rPr lang="fr-FR" sz="1200" i="0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30</m:t>
                        </m:r>
                      </m:den>
                    </m:f>
                    <m:r>
                      <a:rPr lang="fr-FR" sz="1200" i="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×100=93.3%</m:t>
                    </m:r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Nombre de tentatives</a:t>
                </a: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30 (3 enregistrements par utilisateur x 10 utilisateurs)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Taux de réussite</a:t>
                </a: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:   </a:t>
                </a: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28/30×100=93.3%</a:t>
                </a:r>
                <a:endParaRPr lang="fr-FR" b="1" dirty="0"/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22453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A907-BEBE-FBC2-871A-6E1B0108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A69E0F-6093-8C8E-8E15-3CF9C1EC5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CF0EC364-CA98-23CA-1BC1-8C5D9309616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Nombre de tentatives</a:t>
                </a: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30 (3 enregistrements par utilisateur x 10 utilisateurs)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Taux de réussite</a:t>
                </a: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fr-FR" sz="1200" i="0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28</m:t>
                        </m:r>
                      </m:num>
                      <m:den>
                        <m:r>
                          <a:rPr lang="fr-FR" sz="1200" i="0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30</m:t>
                        </m:r>
                      </m:den>
                    </m:f>
                    <m:r>
                      <a:rPr lang="fr-FR" sz="1200" i="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×100=93.3%</m:t>
                    </m:r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Nombre de tentatives</a:t>
                </a: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30 (3 enregistrements par utilisateur x 10 utilisateurs)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Taux de réussite</a:t>
                </a:r>
                <a:r>
                  <a:rPr lang="fr-F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:   </a:t>
                </a:r>
                <a:r>
                  <a:rPr lang="fr-FR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28/30×100=93.3%</a:t>
                </a:r>
                <a:endParaRPr lang="fr-FR" b="1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61C57D-18A8-5024-545F-3EE3C98BD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340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3517-FA94-4612-FCD2-6759D32D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8F73E07-C35D-2F19-EAF1-3D6969532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E7B6D5-CED1-283B-0F39-F2DF6AFFB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 un document contenant 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caractères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correctement extrait 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 caractères</a:t>
            </a:r>
            <a:endParaRPr lang="fr-FR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F65343-9499-03B1-585C-F458F2BE0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84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 un document contenant 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caractères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correctement extrait 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 caractères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2011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FaceNet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suit trois étapes principales pour la reconnaissance faciale 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Développé par Google en 2015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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Extraction des caractéristiques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Les images faciales sont traitées pour générer un vecteur d'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embedding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128 dimensions. Cet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embedding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capture les caractéristiques uniques du visage de l'utilisateur.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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Comparaison des </a:t>
            </a:r>
            <a:r>
              <a:rPr lang="fr-F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embeddings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Les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embeddings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deux visages sont comparés en utilisant la distance euclidienne. Si cette distance est inférieure à un seuil prédéfini, les visages sont considérés comme appartenant à la même personne.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Classification avec K-</a:t>
            </a:r>
            <a:r>
              <a:rPr lang="fr-F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Nearest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Neighbors (KNN)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 Les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embeddings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générés sont ensuite classés avec l'algorithme KNN, permettant d'identifier le visage en le comparant à une base de données d'images de visages enrôlés</a:t>
            </a:r>
          </a:p>
          <a:p>
            <a:endParaRPr lang="fr-FR" sz="1800" b="1" dirty="0">
              <a:effectLst/>
              <a:latin typeface="Times New Roman" panose="02020603050405020304" pitchFamily="18" charset="0"/>
            </a:endParaRPr>
          </a:p>
          <a:p>
            <a:endParaRPr lang="fr-FR" sz="1800" b="1" dirty="0">
              <a:effectLst/>
              <a:latin typeface="Times New Roman" panose="02020603050405020304" pitchFamily="18" charset="0"/>
            </a:endParaRPr>
          </a:p>
          <a:p>
            <a:r>
              <a:rPr lang="fr-FR" sz="1800" b="1" dirty="0">
                <a:effectLst/>
                <a:latin typeface="Times New Roman" panose="02020603050405020304" pitchFamily="18" charset="0"/>
              </a:rPr>
              <a:t>Wav2vec2.0</a:t>
            </a:r>
          </a:p>
          <a:p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Développé par Facebook AI en 2020</a:t>
            </a:r>
            <a:endParaRPr lang="fr-FR" sz="1800" b="1" dirty="0">
              <a:effectLst/>
              <a:latin typeface="Times New Roman" panose="02020603050405020304" pitchFamily="18" charset="0"/>
            </a:endParaRPr>
          </a:p>
          <a:p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Comme pour la reconnaissance faciale, la voix est convertie en un vecteur d'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embedding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qui est comparé à des données vocales enregistrées</a:t>
            </a:r>
          </a:p>
          <a:p>
            <a:endParaRPr lang="fr-FR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fr-F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EasyOCR</a:t>
            </a:r>
            <a:endParaRPr lang="fr-FR" sz="1800" b="1" dirty="0">
              <a:effectLst/>
              <a:latin typeface="Times New Roman" panose="02020603050405020304" pitchFamily="18" charset="0"/>
            </a:endParaRPr>
          </a:p>
          <a:p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 texte dans une image est segmenté en caractères individuels, qui sont ensuite reconnus grâce à un réseau de neurones convolutifs (CNN).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A3C3B-ADFE-43B2-97B2-906D3A1BC20A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662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94D964-9093-4900-6F1E-F269E7137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6396052-3737-A479-4BEF-4B9516264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A17A6F-F166-68D6-DB05-3F606C9A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D4E07E-ECFA-645D-AC7F-8D6C63F3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085C9E-944F-6DD4-61DE-4BFDC827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18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4A34E0-13BE-58D1-DF7A-D0C4A242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66F44F-8E78-BC60-E935-85FE7512F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D599E5-937A-3920-BB49-E6C38D93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43100E-53BB-07E3-D2CD-19548A552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D1EA64-E793-F7BC-214B-BA7A7DA41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472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8DE6A2-5FC9-0AC4-433C-6B3BB0276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DB7C47-B42F-1016-7ADE-E2B34D0F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201BA9-4949-5A44-34C3-893BE48A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716EC6-D745-43ED-60CE-A9B0D8A7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90DDAB-8577-ACB0-7B49-466DF720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53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33C0D6-26FB-17A6-F9D5-7B0C0B03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690D60-AD6D-7CE2-81D7-B1BE031EC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B3AB50-F51C-5CDE-076F-2107A9FE6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5EB06C-73FA-E3BE-0FDB-1B72ACFF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14F1A9-5D4E-32D5-89C4-F83DCDAC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CE0D14-89FF-5F4E-1D96-4833992B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00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BADFF-AB1B-6ADC-1342-A277C741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AFD149-B78D-5229-309E-54746DBF7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E68D3F-AFA5-9DF1-39BB-3798DBE38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782C7D1-7B7A-6765-D327-FE1F0B56F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79CB18-A05C-FB1D-C4A1-3D24AB54E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871332E-2435-BC9A-5CDB-DA211108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703469D-A923-B3B7-05B7-02417C1A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A37D22B-113A-1DA6-F244-EE75EE0A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330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2D1A2-ED49-A218-18BF-5637DB59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07F5DB2-D09C-294E-28DC-DF05F7B20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FBAAD32-6246-C90B-7508-7CAAA7DA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8C5EB0-7226-8760-AF47-B6C9E07D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79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2CA37C1-975D-4FB4-FCD9-AFE908030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4A98E6-D2B8-33C1-1E59-1E223428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DF8402-D7EA-AF7A-B91C-F0F32D00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81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6C092E-217B-7DE8-01C0-B077A5D1D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F6D0A-C56A-D463-4D90-3122BBEC9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330B94-2C98-AEE6-1C79-9F41788B8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0F174B-2740-01C9-41FE-DD8D63D3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C672B89-B933-5575-2CEE-253D8A9E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7D0B72-CC26-3EF5-C05E-7D7B6A4A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14881D-CA4B-B94E-C276-0A42C766A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E98B38A-F90A-9C53-1397-50E692990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C917020-3098-4408-224F-62E5AB21C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3668A8-AF23-8226-9FE2-6CB463F90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DFF188-DD23-01E6-384F-215A3697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F08987-A88C-4D5D-0121-01A595F5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511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748BA0-8F45-903A-FE86-73503FDF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0A5DA0-2C3A-E9F0-DE52-CAD3ABC09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AAE290-7D2D-046F-055E-621E64D5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7BD850-1ADE-F76F-04A8-0486C9BA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8CDCCD-9D7D-C34E-74B9-2C03A3BB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14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4BEEA70-9F00-F96F-5A03-58A078E278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0FF4D91-B801-EDCC-605D-85D9CE413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461787-9E39-CFEE-38E9-B0D1CDBF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171F10-AE7A-1FEC-2A1B-6099A24D8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BF4D9A-A87D-3CB1-FC1E-09C7D1C5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36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D5AC114-5F5F-CC70-61BA-CFBC8751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FFC836-9BAA-5A25-9FF8-C8F7C7A9A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6BC037-94F7-DEF5-9822-389A32DA4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DDA14-8432-4856-A754-F099B1CD62AC}" type="datetimeFigureOut">
              <a:rPr lang="fr-FR" smtClean="0"/>
              <a:t>06/08/2025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FD39F8-946B-5AF4-B236-61BAAD691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B3A694-D751-D6F8-DDF7-272BF75C2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77B4C-E667-48B6-94CC-6763393CB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mojaszuflada.pl/prizmo-ocr-aplikacja-do-skanowania-i-rozpoznawania-tekstu-w-systemie-macos-uwaga-konkurs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62C5F61D-395F-7D37-FBE0-515B0593C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145133" cy="1073486"/>
          </a:xfrm>
          <a:prstGeom prst="rect">
            <a:avLst/>
          </a:prstGeom>
        </p:spPr>
      </p:pic>
      <p:pic>
        <p:nvPicPr>
          <p:cNvPr id="5" name="Picture 5" descr="A logo for a university&#10;&#10;Description automatically generated">
            <a:extLst>
              <a:ext uri="{FF2B5EF4-FFF2-40B4-BE49-F238E27FC236}">
                <a16:creationId xmlns:a16="http://schemas.microsoft.com/office/drawing/2014/main" id="{6575B3DC-A67F-C62C-7C35-6D69F32C8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390" y="111392"/>
            <a:ext cx="2476558" cy="962094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4B81F07-9833-465E-A5C8-ED213DBACB52}"/>
              </a:ext>
            </a:extLst>
          </p:cNvPr>
          <p:cNvSpPr/>
          <p:nvPr/>
        </p:nvSpPr>
        <p:spPr>
          <a:xfrm>
            <a:off x="3145133" y="2740306"/>
            <a:ext cx="6574419" cy="137738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CONCEPTION ET DEVELOPPEMENT D’UN SYSTEME D’IDENTIFICATION BIOMETRIQUE MULTIMODAL INTEGRANT RECONNAISSANCE FACIALE, VOCALE ET RECONNAISSANCE OPTIQUE DE CARACTERES</a:t>
            </a:r>
          </a:p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15B6ACE-5C1B-E8AC-B599-C9A6FFF88169}"/>
              </a:ext>
            </a:extLst>
          </p:cNvPr>
          <p:cNvSpPr txBox="1"/>
          <p:nvPr/>
        </p:nvSpPr>
        <p:spPr>
          <a:xfrm>
            <a:off x="3402956" y="4653023"/>
            <a:ext cx="594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b="1" dirty="0"/>
              <a:t> HONOU Koessivi Jean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6C61B34-196B-2A87-2EAF-0EFFCB88FE92}"/>
              </a:ext>
            </a:extLst>
          </p:cNvPr>
          <p:cNvSpPr txBox="1"/>
          <p:nvPr/>
        </p:nvSpPr>
        <p:spPr>
          <a:xfrm>
            <a:off x="0" y="5231757"/>
            <a:ext cx="12192000" cy="162624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BB8A65A-F333-635E-B0D7-F38842EDA4F4}"/>
              </a:ext>
            </a:extLst>
          </p:cNvPr>
          <p:cNvSpPr txBox="1"/>
          <p:nvPr/>
        </p:nvSpPr>
        <p:spPr>
          <a:xfrm>
            <a:off x="2465407" y="1430427"/>
            <a:ext cx="7500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rgbClr val="58585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MEMOIRE DE FIN DE FORMATION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/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Pour l’obtention du diplôme de </a:t>
            </a:r>
          </a:p>
          <a:p>
            <a:pPr algn="ctr"/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MASTER</a:t>
            </a:r>
            <a:endParaRPr lang="fr-FR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Spécialité : Intelligence Artificielle et Big Data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C855EF0-8F29-3212-76DB-1BE6EFE06CC2}"/>
              </a:ext>
            </a:extLst>
          </p:cNvPr>
          <p:cNvSpPr txBox="1"/>
          <p:nvPr/>
        </p:nvSpPr>
        <p:spPr>
          <a:xfrm>
            <a:off x="3258273" y="4198320"/>
            <a:ext cx="609407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rgbClr val="3B383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Présenté et soutenue publiquement le 09 août 2025 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9B58ABB7-E22A-11FF-4A7F-3B1BDA541805}"/>
              </a:ext>
            </a:extLst>
          </p:cNvPr>
          <p:cNvCxnSpPr/>
          <p:nvPr/>
        </p:nvCxnSpPr>
        <p:spPr>
          <a:xfrm>
            <a:off x="6096000" y="5393803"/>
            <a:ext cx="0" cy="12269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2130ECA2-8A68-4E93-BFC5-8F983990FE38}"/>
              </a:ext>
            </a:extLst>
          </p:cNvPr>
          <p:cNvSpPr txBox="1"/>
          <p:nvPr/>
        </p:nvSpPr>
        <p:spPr>
          <a:xfrm>
            <a:off x="248856" y="5392294"/>
            <a:ext cx="6018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Directeur de m</a:t>
            </a:r>
            <a:r>
              <a:rPr lang="fr-FR" sz="1800" b="1" dirty="0" err="1">
                <a:solidFill>
                  <a:schemeClr val="bg1"/>
                </a:solidFill>
              </a:rPr>
              <a:t>émoire</a:t>
            </a:r>
            <a:r>
              <a:rPr lang="fr-FR" sz="1800" b="1" dirty="0">
                <a:solidFill>
                  <a:schemeClr val="bg1"/>
                </a:solidFill>
              </a:rPr>
              <a:t> :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MAO </a:t>
            </a:r>
            <a:r>
              <a:rPr lang="fr-FR" sz="1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Barèrèm-Mêlgueba</a:t>
            </a:r>
            <a:r>
              <a:rPr lang="fr-FR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Ph.D</a:t>
            </a:r>
            <a:r>
              <a:rPr lang="fr-FR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fr-FR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dirty="0">
                <a:solidFill>
                  <a:schemeClr val="bg1"/>
                </a:solidFill>
              </a:rPr>
              <a:t>Maître de Conférences, Enseignant-Chercheur à l’UL</a:t>
            </a:r>
          </a:p>
          <a:p>
            <a:r>
              <a:rPr lang="fr-FR" dirty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Maitre de Stage : </a:t>
            </a:r>
            <a:endParaRPr lang="fr-FR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CEF76A7-8CAB-0817-7899-E6C7279F1229}"/>
              </a:ext>
            </a:extLst>
          </p:cNvPr>
          <p:cNvSpPr txBox="1"/>
          <p:nvPr/>
        </p:nvSpPr>
        <p:spPr>
          <a:xfrm>
            <a:off x="6377649" y="5313076"/>
            <a:ext cx="57371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chemeClr val="bg1"/>
                </a:solidFill>
              </a:rPr>
              <a:t>Président</a:t>
            </a:r>
            <a:r>
              <a:rPr lang="en-US" sz="1800" b="1" dirty="0">
                <a:solidFill>
                  <a:schemeClr val="bg1"/>
                </a:solidFill>
              </a:rPr>
              <a:t> de Jury </a:t>
            </a:r>
            <a:r>
              <a:rPr lang="fr-FR" sz="1800" b="1" dirty="0">
                <a:solidFill>
                  <a:schemeClr val="bg1"/>
                </a:solidFill>
              </a:rPr>
              <a:t>:</a:t>
            </a:r>
            <a:r>
              <a:rPr lang="fr-FR" b="1" dirty="0">
                <a:solidFill>
                  <a:schemeClr val="bg1"/>
                </a:solidFill>
              </a:rPr>
              <a:t> Prof LARE Y. , </a:t>
            </a:r>
            <a:r>
              <a:rPr lang="fr-FR" dirty="0">
                <a:solidFill>
                  <a:schemeClr val="bg1"/>
                </a:solidFill>
              </a:rPr>
              <a:t>Enseignant Chercheur à l’UL (FDS)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Examinateur</a:t>
            </a:r>
            <a:r>
              <a:rPr lang="fr-FR" sz="1800" b="1" dirty="0">
                <a:solidFill>
                  <a:schemeClr val="tx1"/>
                </a:solidFill>
              </a:rPr>
              <a:t> </a:t>
            </a:r>
            <a:r>
              <a:rPr lang="fr-FR" sz="1800" b="1" dirty="0">
                <a:solidFill>
                  <a:schemeClr val="bg1"/>
                </a:solidFill>
              </a:rPr>
              <a:t>: Dr PALANGA E. </a:t>
            </a:r>
            <a:r>
              <a:rPr lang="fr-FR" b="1" dirty="0">
                <a:solidFill>
                  <a:schemeClr val="bg1"/>
                </a:solidFill>
              </a:rPr>
              <a:t>, </a:t>
            </a:r>
            <a:r>
              <a:rPr lang="fr-FR" dirty="0">
                <a:solidFill>
                  <a:schemeClr val="bg1"/>
                </a:solidFill>
              </a:rPr>
              <a:t>Maître de Conférences,</a:t>
            </a:r>
          </a:p>
          <a:p>
            <a:r>
              <a:rPr lang="fr-FR" dirty="0">
                <a:solidFill>
                  <a:schemeClr val="bg1"/>
                </a:solidFill>
              </a:rPr>
              <a:t>Enseignant-Chercheur à l’UL </a:t>
            </a:r>
          </a:p>
        </p:txBody>
      </p:sp>
    </p:spTree>
    <p:extLst>
      <p:ext uri="{BB962C8B-B14F-4D97-AF65-F5344CB8AC3E}">
        <p14:creationId xmlns:p14="http://schemas.microsoft.com/office/powerpoint/2010/main" val="177289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graphicFrame>
        <p:nvGraphicFramePr>
          <p:cNvPr id="10" name="ZoneTexte 5">
            <a:extLst>
              <a:ext uri="{FF2B5EF4-FFF2-40B4-BE49-F238E27FC236}">
                <a16:creationId xmlns:a16="http://schemas.microsoft.com/office/drawing/2014/main" id="{F4DF0AB5-8508-6166-AF6B-F0FF5B89AC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3676507"/>
              </p:ext>
            </p:extLst>
          </p:nvPr>
        </p:nvGraphicFramePr>
        <p:xfrm>
          <a:off x="644056" y="2112579"/>
          <a:ext cx="11077774" cy="4258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16637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</a:p>
        </p:txBody>
      </p:sp>
      <p:graphicFrame>
        <p:nvGraphicFramePr>
          <p:cNvPr id="14" name="ZoneTexte 1">
            <a:extLst>
              <a:ext uri="{FF2B5EF4-FFF2-40B4-BE49-F238E27FC236}">
                <a16:creationId xmlns:a16="http://schemas.microsoft.com/office/drawing/2014/main" id="{7646F941-320F-34A2-C6C7-B227B8BF41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3921787"/>
              </p:ext>
            </p:extLst>
          </p:nvPr>
        </p:nvGraphicFramePr>
        <p:xfrm>
          <a:off x="505839" y="768485"/>
          <a:ext cx="11468910" cy="5379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960B0E6A-D944-9552-BE8B-FF4EBD6EBCE8}"/>
              </a:ext>
            </a:extLst>
          </p:cNvPr>
          <p:cNvSpPr txBox="1"/>
          <p:nvPr/>
        </p:nvSpPr>
        <p:spPr>
          <a:xfrm>
            <a:off x="982493" y="969369"/>
            <a:ext cx="604087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3600" dirty="0"/>
              <a:t>CONTEXTE ET JUSTIFICATION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0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3365770" y="184826"/>
            <a:ext cx="5544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INTRODUCTION GENERALE</a:t>
            </a:r>
          </a:p>
        </p:txBody>
      </p:sp>
    </p:spTree>
    <p:extLst>
      <p:ext uri="{BB962C8B-B14F-4D97-AF65-F5344CB8AC3E}">
        <p14:creationId xmlns:p14="http://schemas.microsoft.com/office/powerpoint/2010/main" val="1440954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0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3365770" y="184826"/>
            <a:ext cx="5544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INTRODUCTION GENERALE</a:t>
            </a:r>
          </a:p>
        </p:txBody>
      </p:sp>
      <p:graphicFrame>
        <p:nvGraphicFramePr>
          <p:cNvPr id="14" name="ZoneTexte 1">
            <a:extLst>
              <a:ext uri="{FF2B5EF4-FFF2-40B4-BE49-F238E27FC236}">
                <a16:creationId xmlns:a16="http://schemas.microsoft.com/office/drawing/2014/main" id="{AB5BF221-832F-47FF-6DF1-F4BDACA18B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4935116"/>
              </p:ext>
            </p:extLst>
          </p:nvPr>
        </p:nvGraphicFramePr>
        <p:xfrm>
          <a:off x="-291829" y="1774351"/>
          <a:ext cx="6429982" cy="1648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86BDA920-03CC-5CCF-E4C7-2D6B8FF481F9}"/>
              </a:ext>
            </a:extLst>
          </p:cNvPr>
          <p:cNvSpPr txBox="1"/>
          <p:nvPr/>
        </p:nvSpPr>
        <p:spPr>
          <a:xfrm>
            <a:off x="554477" y="1070044"/>
            <a:ext cx="374514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3600" dirty="0"/>
              <a:t>PROBLEMATIQUE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0C178A6-77C5-668E-F852-617E48947C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7548" y="834287"/>
            <a:ext cx="4632855" cy="548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60B0E6A-D944-9552-BE8B-FF4EBD6EBCE8}"/>
              </a:ext>
            </a:extLst>
          </p:cNvPr>
          <p:cNvSpPr txBox="1"/>
          <p:nvPr/>
        </p:nvSpPr>
        <p:spPr>
          <a:xfrm>
            <a:off x="1063557" y="1012400"/>
            <a:ext cx="6605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OBJECTIFS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0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3365770" y="184826"/>
            <a:ext cx="5544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INTRODUCTION GENERALE</a:t>
            </a:r>
          </a:p>
        </p:txBody>
      </p:sp>
      <p:graphicFrame>
        <p:nvGraphicFramePr>
          <p:cNvPr id="14" name="ZoneTexte 2">
            <a:extLst>
              <a:ext uri="{FF2B5EF4-FFF2-40B4-BE49-F238E27FC236}">
                <a16:creationId xmlns:a16="http://schemas.microsoft.com/office/drawing/2014/main" id="{196BDA05-5ACE-A815-6EC8-BC692EE086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327648"/>
              </p:ext>
            </p:extLst>
          </p:nvPr>
        </p:nvGraphicFramePr>
        <p:xfrm>
          <a:off x="1063557" y="1658977"/>
          <a:ext cx="10352063" cy="44889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43916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ETAT DE L’ART DE L’IDENTIFICATION BIOMETRIQUE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7C5A69A-67BF-8CF5-7748-A28EBE7B3D28}"/>
              </a:ext>
            </a:extLst>
          </p:cNvPr>
          <p:cNvSpPr txBox="1"/>
          <p:nvPr/>
        </p:nvSpPr>
        <p:spPr>
          <a:xfrm>
            <a:off x="204281" y="933855"/>
            <a:ext cx="3394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DEFINITION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A0127A7-8656-13DA-458D-B064E6BE0BFE}"/>
              </a:ext>
            </a:extLst>
          </p:cNvPr>
          <p:cNvSpPr txBox="1"/>
          <p:nvPr/>
        </p:nvSpPr>
        <p:spPr>
          <a:xfrm>
            <a:off x="204281" y="1848255"/>
            <a:ext cx="5476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effectLst/>
                <a:latin typeface="+mj-lt"/>
                <a:ea typeface="Times New Roman" panose="02020603050405020304" pitchFamily="18" charset="0"/>
              </a:rPr>
              <a:t>L’identification</a:t>
            </a:r>
            <a:r>
              <a:rPr lang="fr-FR" sz="18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fr-FR" sz="1800" b="1" dirty="0">
                <a:effectLst/>
                <a:latin typeface="+mj-lt"/>
                <a:ea typeface="Times New Roman" panose="02020603050405020304" pitchFamily="18" charset="0"/>
              </a:rPr>
              <a:t>biométrique</a:t>
            </a:r>
            <a:r>
              <a:rPr lang="fr-FR" sz="1800" dirty="0">
                <a:effectLst/>
                <a:latin typeface="+mj-lt"/>
                <a:ea typeface="Times New Roman" panose="02020603050405020304" pitchFamily="18" charset="0"/>
              </a:rPr>
              <a:t> est un processus permettant d’identifier ou de vérifier l’identité d’un individu à partir de ses caractéristiques biologiques uniques, telles que :</a:t>
            </a:r>
            <a:endParaRPr lang="fr-FR" dirty="0">
              <a:latin typeface="+mj-lt"/>
            </a:endParaRPr>
          </a:p>
        </p:txBody>
      </p:sp>
      <p:pic>
        <p:nvPicPr>
          <p:cNvPr id="15" name="Image 14" descr="Une image contenant texte, film radiographique&#10;&#10;Description générée automatiquement">
            <a:extLst>
              <a:ext uri="{FF2B5EF4-FFF2-40B4-BE49-F238E27FC236}">
                <a16:creationId xmlns:a16="http://schemas.microsoft.com/office/drawing/2014/main" id="{33EF5FA4-8A89-0F16-77CA-A4831A4CA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92" y="3289104"/>
            <a:ext cx="4869065" cy="322741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170F450-F670-BB41-09E0-29B5A89D9F23}"/>
              </a:ext>
            </a:extLst>
          </p:cNvPr>
          <p:cNvSpPr txBox="1"/>
          <p:nvPr/>
        </p:nvSpPr>
        <p:spPr>
          <a:xfrm>
            <a:off x="7018393" y="812325"/>
            <a:ext cx="3394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MODALITES</a:t>
            </a:r>
            <a:endParaRPr lang="fr-FR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69A3C17-2E19-6F83-59D5-708AFF1E016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61847" y="1057573"/>
            <a:ext cx="7130153" cy="550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93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ETAT DE L’ART DE L’IDENTIFICATION BIOMETRIQUE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7C5A69A-67BF-8CF5-7748-A28EBE7B3D28}"/>
              </a:ext>
            </a:extLst>
          </p:cNvPr>
          <p:cNvSpPr txBox="1"/>
          <p:nvPr/>
        </p:nvSpPr>
        <p:spPr>
          <a:xfrm>
            <a:off x="204281" y="933855"/>
            <a:ext cx="3394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PRINCIPES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9EFB8B0-F8AE-9C8E-67B6-BF813076A315}"/>
              </a:ext>
            </a:extLst>
          </p:cNvPr>
          <p:cNvSpPr txBox="1"/>
          <p:nvPr/>
        </p:nvSpPr>
        <p:spPr>
          <a:xfrm>
            <a:off x="687930" y="2519869"/>
            <a:ext cx="377223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Char char="—"/>
            </a:pPr>
            <a:r>
              <a:rPr lang="fr-FR" sz="28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Universalité</a:t>
            </a:r>
            <a:endParaRPr lang="fr-FR" sz="2800" dirty="0">
              <a:solidFill>
                <a:srgbClr val="111111"/>
              </a:solidFill>
              <a:highlight>
                <a:srgbClr val="FFFFFF"/>
              </a:highlight>
              <a:latin typeface="-apple-system"/>
            </a:endParaRPr>
          </a:p>
          <a:p>
            <a:pPr marL="457200" indent="-457200">
              <a:buFontTx/>
              <a:buChar char="—"/>
            </a:pPr>
            <a:r>
              <a:rPr lang="fr-FR" sz="28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Unicité</a:t>
            </a:r>
          </a:p>
          <a:p>
            <a:pPr marL="457200" indent="-457200">
              <a:buFontTx/>
              <a:buChar char="—"/>
            </a:pPr>
            <a:r>
              <a:rPr lang="fr-FR" sz="28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Permanence</a:t>
            </a:r>
          </a:p>
          <a:p>
            <a:pPr marL="457200" indent="-457200">
              <a:buFontTx/>
              <a:buChar char="—"/>
            </a:pPr>
            <a:r>
              <a:rPr lang="fr-FR" sz="2800" b="0" i="0" dirty="0" err="1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Collectabilité</a:t>
            </a:r>
            <a:endParaRPr lang="fr-FR" sz="2800" dirty="0">
              <a:solidFill>
                <a:srgbClr val="111111"/>
              </a:solidFill>
              <a:highlight>
                <a:srgbClr val="FFFFFF"/>
              </a:highlight>
              <a:latin typeface="-apple-system"/>
            </a:endParaRPr>
          </a:p>
          <a:p>
            <a:pPr marL="457200" indent="-457200">
              <a:buFontTx/>
              <a:buChar char="—"/>
            </a:pPr>
            <a:r>
              <a:rPr lang="fr-FR" sz="2800" dirty="0">
                <a:solidFill>
                  <a:srgbClr val="111111"/>
                </a:solidFill>
                <a:highlight>
                  <a:srgbClr val="FFFFFF"/>
                </a:highlight>
                <a:latin typeface="-apple-system"/>
              </a:rPr>
              <a:t>A</a:t>
            </a:r>
            <a:r>
              <a:rPr lang="fr-FR" sz="28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cceptabilité</a:t>
            </a:r>
            <a:endParaRPr lang="fr-FR" sz="28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60C473-8F63-C3F0-2938-7279CE9942F3}"/>
              </a:ext>
            </a:extLst>
          </p:cNvPr>
          <p:cNvSpPr txBox="1"/>
          <p:nvPr/>
        </p:nvSpPr>
        <p:spPr>
          <a:xfrm>
            <a:off x="6303524" y="987736"/>
            <a:ext cx="3141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AVANTAGES 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4399BD2-F0D3-DB01-58D9-A190F1216D5E}"/>
              </a:ext>
            </a:extLst>
          </p:cNvPr>
          <p:cNvSpPr txBox="1"/>
          <p:nvPr/>
        </p:nvSpPr>
        <p:spPr>
          <a:xfrm>
            <a:off x="6706514" y="2458314"/>
            <a:ext cx="42785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ptos" panose="020B0004020202020204" pitchFamily="34" charset="0"/>
              <a:buChar char="—"/>
            </a:pPr>
            <a:r>
              <a:rPr lang="fr-FR" sz="2400" dirty="0"/>
              <a:t>Haute sécurité 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fr-FR" sz="2400" dirty="0"/>
              <a:t>Réduction des coûts 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fr-FR" sz="2400" dirty="0"/>
              <a:t>Identification rapide 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fr-FR" sz="2400" dirty="0"/>
              <a:t>Élimination des problèmes de perte d'accès 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fr-FR" sz="2400" dirty="0"/>
              <a:t>Praticité</a:t>
            </a:r>
          </a:p>
        </p:txBody>
      </p:sp>
    </p:spTree>
    <p:extLst>
      <p:ext uri="{BB962C8B-B14F-4D97-AF65-F5344CB8AC3E}">
        <p14:creationId xmlns:p14="http://schemas.microsoft.com/office/powerpoint/2010/main" val="1096226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ETAT DE L’ART DE L’IDENTIFICATION BIOMETRIQUE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7C5A69A-67BF-8CF5-7748-A28EBE7B3D28}"/>
              </a:ext>
            </a:extLst>
          </p:cNvPr>
          <p:cNvSpPr txBox="1"/>
          <p:nvPr/>
        </p:nvSpPr>
        <p:spPr>
          <a:xfrm>
            <a:off x="204280" y="933855"/>
            <a:ext cx="4217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MODE DE </a:t>
            </a:r>
          </a:p>
          <a:p>
            <a:r>
              <a:rPr lang="fr-FR" sz="3600" dirty="0"/>
              <a:t>FONCTIONNEMENT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1FAB2CE-A68D-067F-AC09-88828208BD2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65432" y="338915"/>
            <a:ext cx="8426568" cy="602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25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ETAT DE L’ART DE L’IDENTIFICATION BIOMETRIQUE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60C473-8F63-C3F0-2938-7279CE9942F3}"/>
              </a:ext>
            </a:extLst>
          </p:cNvPr>
          <p:cNvSpPr txBox="1"/>
          <p:nvPr/>
        </p:nvSpPr>
        <p:spPr>
          <a:xfrm>
            <a:off x="564737" y="1116859"/>
            <a:ext cx="9539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CHOIX DE CARACTERISTIQUE BIOMETRIQUE</a:t>
            </a:r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C971AFC-311C-15FF-D396-04537F1402B8}"/>
              </a:ext>
            </a:extLst>
          </p:cNvPr>
          <p:cNvSpPr/>
          <p:nvPr/>
        </p:nvSpPr>
        <p:spPr>
          <a:xfrm>
            <a:off x="427577" y="3462690"/>
            <a:ext cx="3428143" cy="838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chemeClr val="tx1"/>
                </a:solidFill>
              </a:rPr>
              <a:t>SYSTEME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9691765-E6B8-BBDA-7920-B0F410DAAD4F}"/>
              </a:ext>
            </a:extLst>
          </p:cNvPr>
          <p:cNvSpPr/>
          <p:nvPr/>
        </p:nvSpPr>
        <p:spPr>
          <a:xfrm>
            <a:off x="5578697" y="1879610"/>
            <a:ext cx="3428143" cy="838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chemeClr val="tx1"/>
                </a:solidFill>
              </a:rPr>
              <a:t>VISAGE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223B738-D70F-993E-1C03-8533F5C6FB47}"/>
              </a:ext>
            </a:extLst>
          </p:cNvPr>
          <p:cNvSpPr/>
          <p:nvPr/>
        </p:nvSpPr>
        <p:spPr>
          <a:xfrm>
            <a:off x="5578697" y="5050613"/>
            <a:ext cx="3428143" cy="8382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chemeClr val="tx1"/>
                </a:solidFill>
              </a:rPr>
              <a:t>VOIX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86789886-8A71-B76E-0939-EE9CA1166E19}"/>
              </a:ext>
            </a:extLst>
          </p:cNvPr>
          <p:cNvCxnSpPr>
            <a:endCxn id="10" idx="1"/>
          </p:cNvCxnSpPr>
          <p:nvPr/>
        </p:nvCxnSpPr>
        <p:spPr>
          <a:xfrm flipV="1">
            <a:off x="2621280" y="2298710"/>
            <a:ext cx="2957417" cy="1130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7B2136F8-7C9C-3321-7597-6474A75097E9}"/>
              </a:ext>
            </a:extLst>
          </p:cNvPr>
          <p:cNvCxnSpPr>
            <a:endCxn id="13" idx="1"/>
          </p:cNvCxnSpPr>
          <p:nvPr/>
        </p:nvCxnSpPr>
        <p:spPr>
          <a:xfrm>
            <a:off x="2834640" y="4300890"/>
            <a:ext cx="2744057" cy="1168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12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ETAT DE L’ART DE L’IDENTIFICATION BIOMETRIQUE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9F5BB35-5285-D574-FA58-A495FDD04D6F}"/>
              </a:ext>
            </a:extLst>
          </p:cNvPr>
          <p:cNvSpPr/>
          <p:nvPr/>
        </p:nvSpPr>
        <p:spPr>
          <a:xfrm>
            <a:off x="0" y="750012"/>
            <a:ext cx="12192001" cy="58477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chemeClr val="tx1"/>
                </a:solidFill>
              </a:rPr>
              <a:t>    RECONNAISSANCE FACIALE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1CE1C00-CF2C-5282-AD1C-04557C243D0C}"/>
              </a:ext>
            </a:extLst>
          </p:cNvPr>
          <p:cNvSpPr txBox="1"/>
          <p:nvPr/>
        </p:nvSpPr>
        <p:spPr>
          <a:xfrm>
            <a:off x="983849" y="4343199"/>
            <a:ext cx="93754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+mj-lt"/>
              </a:rPr>
              <a:t>Des années 1960 à aujourd’hui</a:t>
            </a:r>
          </a:p>
          <a:p>
            <a:pPr marL="285750" indent="-285750" algn="l">
              <a:buFontTx/>
              <a:buChar char="—"/>
            </a:pPr>
            <a:r>
              <a:rPr lang="fr-FR" b="1" dirty="0">
                <a:solidFill>
                  <a:srgbClr val="111111"/>
                </a:solidFill>
                <a:highlight>
                  <a:srgbClr val="FFFFFF"/>
                </a:highlight>
                <a:latin typeface="+mj-lt"/>
              </a:rPr>
              <a:t>Méthodes classiques 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+mj-lt"/>
              </a:rPr>
              <a:t>: Méthodes globales, locales, et détecteurs et descripteurs de points d'intérêt.</a:t>
            </a:r>
          </a:p>
          <a:p>
            <a:pPr marL="285750" indent="-285750" algn="l">
              <a:buFontTx/>
              <a:buChar char="—"/>
            </a:pPr>
            <a:r>
              <a:rPr lang="fr-FR" b="1" dirty="0">
                <a:solidFill>
                  <a:srgbClr val="111111"/>
                </a:solidFill>
                <a:highlight>
                  <a:srgbClr val="FFFFFF"/>
                </a:highlight>
                <a:latin typeface="+mj-lt"/>
              </a:rPr>
              <a:t>Intelligence Artificielle 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+mj-lt"/>
              </a:rPr>
              <a:t>: CNN</a:t>
            </a:r>
          </a:p>
          <a:p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A4B4495-9CC8-6E6E-CBE6-2ACA421CA50D}"/>
              </a:ext>
            </a:extLst>
          </p:cNvPr>
          <p:cNvSpPr txBox="1"/>
          <p:nvPr/>
        </p:nvSpPr>
        <p:spPr>
          <a:xfrm>
            <a:off x="983849" y="2404344"/>
            <a:ext cx="5995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</a:t>
            </a:r>
            <a:r>
              <a:rPr lang="fr-FR" b="1" dirty="0"/>
              <a:t>reconnaissance faciale</a:t>
            </a:r>
            <a:r>
              <a:rPr lang="fr-FR" dirty="0"/>
              <a:t> est une technique biométrique qui permet d'identifier ou de vérifier l'identité d'un individu en analysant les traits distinctifs de son visage.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C47AB1D-C0AB-D35A-EFB3-472D3ED15894}"/>
              </a:ext>
            </a:extLst>
          </p:cNvPr>
          <p:cNvSpPr txBox="1"/>
          <p:nvPr/>
        </p:nvSpPr>
        <p:spPr>
          <a:xfrm>
            <a:off x="983849" y="1504709"/>
            <a:ext cx="4074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DEFINTION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24031DD-6A06-CD6D-CFFD-379682C8F7F2}"/>
              </a:ext>
            </a:extLst>
          </p:cNvPr>
          <p:cNvSpPr txBox="1"/>
          <p:nvPr/>
        </p:nvSpPr>
        <p:spPr>
          <a:xfrm>
            <a:off x="983849" y="3530326"/>
            <a:ext cx="6516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HISTORIQUE ET EVOLUTION</a:t>
            </a:r>
          </a:p>
        </p:txBody>
      </p:sp>
    </p:spTree>
    <p:extLst>
      <p:ext uri="{BB962C8B-B14F-4D97-AF65-F5344CB8AC3E}">
        <p14:creationId xmlns:p14="http://schemas.microsoft.com/office/powerpoint/2010/main" val="3437852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ETAT DE L’ART DE L’IDENTIFICATION BIOMETRIQUE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9F5BB35-5285-D574-FA58-A495FDD04D6F}"/>
              </a:ext>
            </a:extLst>
          </p:cNvPr>
          <p:cNvSpPr/>
          <p:nvPr/>
        </p:nvSpPr>
        <p:spPr>
          <a:xfrm>
            <a:off x="0" y="750012"/>
            <a:ext cx="12192001" cy="58477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chemeClr val="tx1"/>
                </a:solidFill>
              </a:rPr>
              <a:t>    RECONNAISSANCE FACIALE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DE5FF0-45DE-BDDE-88F4-A483CC5A4C93}"/>
              </a:ext>
            </a:extLst>
          </p:cNvPr>
          <p:cNvSpPr txBox="1"/>
          <p:nvPr/>
        </p:nvSpPr>
        <p:spPr>
          <a:xfrm>
            <a:off x="-1" y="1463910"/>
            <a:ext cx="3889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INTELLIGENCE </a:t>
            </a:r>
          </a:p>
          <a:p>
            <a:r>
              <a:rPr lang="fr-FR" sz="3600" dirty="0"/>
              <a:t>ARTIFICIELLE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A9A61D8-568E-3DD9-1CE1-6BE106792641}"/>
              </a:ext>
            </a:extLst>
          </p:cNvPr>
          <p:cNvSpPr txBox="1"/>
          <p:nvPr/>
        </p:nvSpPr>
        <p:spPr>
          <a:xfrm>
            <a:off x="-1" y="2782669"/>
            <a:ext cx="3194614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CNN(CONVOLUTIONAL NEURAL NETWORK)</a:t>
            </a:r>
            <a:endParaRPr lang="fr-FR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6A8C5C9-A15C-7D1F-3E7D-0663D242E40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8992" y="2477582"/>
            <a:ext cx="8853008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419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ETAT DE L’ART DE L’IDENTIFICATION BIOMETRIQUE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9F5BB35-5285-D574-FA58-A495FDD04D6F}"/>
              </a:ext>
            </a:extLst>
          </p:cNvPr>
          <p:cNvSpPr/>
          <p:nvPr/>
        </p:nvSpPr>
        <p:spPr>
          <a:xfrm>
            <a:off x="-4242" y="628452"/>
            <a:ext cx="12192001" cy="58477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chemeClr val="tx1"/>
                </a:solidFill>
              </a:rPr>
              <a:t>    RECONNAISSANCE VOCALE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DE5FF0-45DE-BDDE-88F4-A483CC5A4C93}"/>
              </a:ext>
            </a:extLst>
          </p:cNvPr>
          <p:cNvSpPr txBox="1"/>
          <p:nvPr/>
        </p:nvSpPr>
        <p:spPr>
          <a:xfrm>
            <a:off x="6393608" y="1380523"/>
            <a:ext cx="5709139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+mj-lt"/>
              </a:rPr>
              <a:t>PRINCIPE FONDAMENTAUX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0B58B68-E1D6-66BE-8B36-3E6E0C923DAD}"/>
              </a:ext>
            </a:extLst>
          </p:cNvPr>
          <p:cNvSpPr txBox="1"/>
          <p:nvPr/>
        </p:nvSpPr>
        <p:spPr>
          <a:xfrm>
            <a:off x="89253" y="1411300"/>
            <a:ext cx="3075894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RAL vs RAP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7437610-97B1-7586-E38E-8ED771C3B04C}"/>
              </a:ext>
            </a:extLst>
          </p:cNvPr>
          <p:cNvSpPr txBox="1"/>
          <p:nvPr/>
        </p:nvSpPr>
        <p:spPr>
          <a:xfrm>
            <a:off x="468839" y="2595859"/>
            <a:ext cx="53926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RAL: Reconnaissance Automatique de locuteur</a:t>
            </a:r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RAP: Reconnaissance Automatique de parole</a:t>
            </a:r>
          </a:p>
        </p:txBody>
      </p:sp>
      <p:graphicFrame>
        <p:nvGraphicFramePr>
          <p:cNvPr id="22" name="ZoneTexte 3">
            <a:extLst>
              <a:ext uri="{FF2B5EF4-FFF2-40B4-BE49-F238E27FC236}">
                <a16:creationId xmlns:a16="http://schemas.microsoft.com/office/drawing/2014/main" id="{09BB03C4-A921-F85B-190B-CD0744D3DD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7837275"/>
              </p:ext>
            </p:extLst>
          </p:nvPr>
        </p:nvGraphicFramePr>
        <p:xfrm>
          <a:off x="4942391" y="2014548"/>
          <a:ext cx="7685589" cy="4527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38960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ETAT DE L’ART DE L’IDENTIFICATION BIOMETRIQUE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9F5BB35-5285-D574-FA58-A495FDD04D6F}"/>
              </a:ext>
            </a:extLst>
          </p:cNvPr>
          <p:cNvSpPr/>
          <p:nvPr/>
        </p:nvSpPr>
        <p:spPr>
          <a:xfrm>
            <a:off x="-4242" y="628452"/>
            <a:ext cx="12192001" cy="58477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chemeClr val="tx1"/>
                </a:solidFill>
              </a:rPr>
              <a:t>    RECONNAISSANCE VOCALE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0B58B68-E1D6-66BE-8B36-3E6E0C923DAD}"/>
              </a:ext>
            </a:extLst>
          </p:cNvPr>
          <p:cNvSpPr txBox="1"/>
          <p:nvPr/>
        </p:nvSpPr>
        <p:spPr>
          <a:xfrm>
            <a:off x="171604" y="1378919"/>
            <a:ext cx="3884581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MODALITES DU RAL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4835AA5-85E2-E01F-C06E-1309EF8023C3}"/>
              </a:ext>
            </a:extLst>
          </p:cNvPr>
          <p:cNvSpPr txBox="1"/>
          <p:nvPr/>
        </p:nvSpPr>
        <p:spPr>
          <a:xfrm>
            <a:off x="316523" y="2543908"/>
            <a:ext cx="463061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ptos" panose="020B0004020202020204" pitchFamily="34" charset="0"/>
              <a:buChar char="—"/>
            </a:pPr>
            <a:r>
              <a:rPr lang="fr-FR" sz="2800" dirty="0"/>
              <a:t>RAL dépendante du texte</a:t>
            </a:r>
          </a:p>
          <a:p>
            <a:pPr marL="457200" indent="-457200">
              <a:buFont typeface="Aptos" panose="020B0004020202020204" pitchFamily="34" charset="0"/>
              <a:buChar char="—"/>
            </a:pPr>
            <a:endParaRPr lang="fr-FR" sz="2800" dirty="0"/>
          </a:p>
          <a:p>
            <a:endParaRPr lang="fr-FR" sz="2800" dirty="0"/>
          </a:p>
          <a:p>
            <a:pPr marL="457200" indent="-457200">
              <a:buFont typeface="Aptos" panose="020B0004020202020204" pitchFamily="34" charset="0"/>
              <a:buChar char="—"/>
            </a:pPr>
            <a:r>
              <a:rPr lang="fr-FR" sz="2800" dirty="0"/>
              <a:t>RAL indépendante du texte</a:t>
            </a:r>
          </a:p>
          <a:p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55F474D-166E-6667-B3D6-AB6B9C7BEEA7}"/>
              </a:ext>
            </a:extLst>
          </p:cNvPr>
          <p:cNvSpPr txBox="1"/>
          <p:nvPr/>
        </p:nvSpPr>
        <p:spPr>
          <a:xfrm>
            <a:off x="5408580" y="1288253"/>
            <a:ext cx="6611816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EXTRACTION DE CARACTERSITIQUE 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9568206-80F3-46FA-CC8A-298368BA117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99553" y="1970802"/>
            <a:ext cx="5832677" cy="4887198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4EA14567-3AB8-2B61-A3E8-4589CBA6A558}"/>
              </a:ext>
            </a:extLst>
          </p:cNvPr>
          <p:cNvSpPr txBox="1"/>
          <p:nvPr/>
        </p:nvSpPr>
        <p:spPr>
          <a:xfrm>
            <a:off x="1145895" y="5370278"/>
            <a:ext cx="3468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SPECTROGRAMME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6894A190-3B68-1C5D-BF9A-14106B016B6B}"/>
              </a:ext>
            </a:extLst>
          </p:cNvPr>
          <p:cNvCxnSpPr>
            <a:cxnSpLocks/>
          </p:cNvCxnSpPr>
          <p:nvPr/>
        </p:nvCxnSpPr>
        <p:spPr>
          <a:xfrm>
            <a:off x="4386805" y="5631888"/>
            <a:ext cx="20068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498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ETAT DE L’ART DE OCR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9F5BB35-5285-D574-FA58-A495FDD04D6F}"/>
              </a:ext>
            </a:extLst>
          </p:cNvPr>
          <p:cNvSpPr/>
          <p:nvPr/>
        </p:nvSpPr>
        <p:spPr>
          <a:xfrm>
            <a:off x="-4242" y="628452"/>
            <a:ext cx="12192001" cy="58477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chemeClr val="tx1"/>
                </a:solidFill>
              </a:rPr>
              <a:t>OCR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0B58B68-E1D6-66BE-8B36-3E6E0C923DAD}"/>
              </a:ext>
            </a:extLst>
          </p:cNvPr>
          <p:cNvSpPr txBox="1"/>
          <p:nvPr/>
        </p:nvSpPr>
        <p:spPr>
          <a:xfrm>
            <a:off x="128954" y="1475738"/>
            <a:ext cx="3493477" cy="4608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lvl="2" algn="just">
              <a:lnSpc>
                <a:spcPct val="107000"/>
              </a:lnSpc>
              <a:spcBef>
                <a:spcPts val="200"/>
              </a:spcBef>
            </a:pP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DEFINTION</a:t>
            </a:r>
            <a:endParaRPr lang="fr-FR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AB9A9F-FF75-6107-CFBC-50E58264F2C7}"/>
              </a:ext>
            </a:extLst>
          </p:cNvPr>
          <p:cNvSpPr txBox="1"/>
          <p:nvPr/>
        </p:nvSpPr>
        <p:spPr>
          <a:xfrm>
            <a:off x="0" y="2840632"/>
            <a:ext cx="44899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La reconnaissance optique de caractères vise à identifier les caractères présents dans une image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A47E237-CD73-31D9-5B4C-B7888040D6D6}"/>
              </a:ext>
            </a:extLst>
          </p:cNvPr>
          <p:cNvSpPr txBox="1"/>
          <p:nvPr/>
        </p:nvSpPr>
        <p:spPr>
          <a:xfrm>
            <a:off x="7983414" y="1395076"/>
            <a:ext cx="3118339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2 APPROCHES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21F3470-2762-41AF-131F-7B949CC9C547}"/>
              </a:ext>
            </a:extLst>
          </p:cNvPr>
          <p:cNvSpPr txBox="1"/>
          <p:nvPr/>
        </p:nvSpPr>
        <p:spPr>
          <a:xfrm>
            <a:off x="7604843" y="2086778"/>
            <a:ext cx="39482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ptos" panose="020B0004020202020204" pitchFamily="34" charset="0"/>
              <a:buChar char="—"/>
            </a:pPr>
            <a:r>
              <a:rPr lang="fr-FR" sz="2800" dirty="0"/>
              <a:t>Reconnaissance de caractères individuels </a:t>
            </a:r>
          </a:p>
          <a:p>
            <a:pPr marL="342900" indent="-342900">
              <a:buFont typeface="Aptos" panose="020B0004020202020204" pitchFamily="34" charset="0"/>
              <a:buChar char="—"/>
            </a:pPr>
            <a:r>
              <a:rPr lang="fr-FR" sz="2800" dirty="0"/>
              <a:t>Reconnaissance de mots entiers</a:t>
            </a:r>
          </a:p>
        </p:txBody>
      </p:sp>
      <p:pic>
        <p:nvPicPr>
          <p:cNvPr id="24" name="Image 23" descr="Une image contenant texte, Police, symbole, capture d’écran&#10;&#10;Description générée automatiquement">
            <a:extLst>
              <a:ext uri="{FF2B5EF4-FFF2-40B4-BE49-F238E27FC236}">
                <a16:creationId xmlns:a16="http://schemas.microsoft.com/office/drawing/2014/main" id="{A739F3CF-32DB-A400-F16E-08ECE5640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9455" y="4656514"/>
            <a:ext cx="2057398" cy="2057398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C7B3E9FF-9846-2623-F957-DA32955557D2}"/>
              </a:ext>
            </a:extLst>
          </p:cNvPr>
          <p:cNvSpPr txBox="1"/>
          <p:nvPr/>
        </p:nvSpPr>
        <p:spPr>
          <a:xfrm>
            <a:off x="919455" y="7042640"/>
            <a:ext cx="205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4" tooltip="https://mojaszuflada.pl/prizmo-ocr-aplikacja-do-skanowania-i-rozpoznawania-tekstu-w-systemie-macos-uwaga-konkurs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5" tooltip="https://creativecommons.org/licenses/by/3.0/"/>
              </a:rPr>
              <a:t>CC BY</a:t>
            </a:r>
            <a:endParaRPr lang="fr-FR" sz="90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E0D9C81-F571-20DD-2FE6-A4BBDDE926FE}"/>
              </a:ext>
            </a:extLst>
          </p:cNvPr>
          <p:cNvSpPr txBox="1"/>
          <p:nvPr/>
        </p:nvSpPr>
        <p:spPr>
          <a:xfrm>
            <a:off x="8124092" y="3919305"/>
            <a:ext cx="3118339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METHODES</a:t>
            </a: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281A50E5-CEA5-9F1A-FCE7-2062EE593D90}"/>
              </a:ext>
            </a:extLst>
          </p:cNvPr>
          <p:cNvCxnSpPr>
            <a:cxnSpLocks/>
          </p:cNvCxnSpPr>
          <p:nvPr/>
        </p:nvCxnSpPr>
        <p:spPr>
          <a:xfrm>
            <a:off x="6091758" y="1395076"/>
            <a:ext cx="0" cy="49716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A9B99934-BEC3-D7B6-4A50-D4969ADAF985}"/>
              </a:ext>
            </a:extLst>
          </p:cNvPr>
          <p:cNvSpPr txBox="1"/>
          <p:nvPr/>
        </p:nvSpPr>
        <p:spPr>
          <a:xfrm>
            <a:off x="7604843" y="4985870"/>
            <a:ext cx="44992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ptos" panose="020B0004020202020204" pitchFamily="34" charset="0"/>
              <a:buChar char="—"/>
            </a:pPr>
            <a:r>
              <a:rPr lang="fr-FR" sz="2800" dirty="0"/>
              <a:t>Méthodes traditionnelles</a:t>
            </a:r>
          </a:p>
          <a:p>
            <a:pPr marL="457200" indent="-457200">
              <a:buFont typeface="Aptos" panose="020B0004020202020204" pitchFamily="34" charset="0"/>
              <a:buChar char="—"/>
            </a:pPr>
            <a:r>
              <a:rPr lang="fr-FR" sz="2800" dirty="0"/>
              <a:t>Basées sur CNN</a:t>
            </a:r>
          </a:p>
        </p:txBody>
      </p:sp>
    </p:spTree>
    <p:extLst>
      <p:ext uri="{BB962C8B-B14F-4D97-AF65-F5344CB8AC3E}">
        <p14:creationId xmlns:p14="http://schemas.microsoft.com/office/powerpoint/2010/main" val="3874619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ETAT DE L’ART DE OCR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9F5BB35-5285-D574-FA58-A495FDD04D6F}"/>
              </a:ext>
            </a:extLst>
          </p:cNvPr>
          <p:cNvSpPr/>
          <p:nvPr/>
        </p:nvSpPr>
        <p:spPr>
          <a:xfrm>
            <a:off x="-4242" y="628452"/>
            <a:ext cx="12192001" cy="58477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chemeClr val="tx1"/>
                </a:solidFill>
              </a:rPr>
              <a:t>OCR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61D7236-5153-A694-618A-0DE868BFB062}"/>
              </a:ext>
            </a:extLst>
          </p:cNvPr>
          <p:cNvSpPr txBox="1"/>
          <p:nvPr/>
        </p:nvSpPr>
        <p:spPr>
          <a:xfrm>
            <a:off x="117231" y="1506181"/>
            <a:ext cx="3470031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000" dirty="0"/>
              <a:t>METHODE TRADITIONNELLE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140BD76-2D2F-557D-7D02-EBA9CBD8AC9A}"/>
              </a:ext>
            </a:extLst>
          </p:cNvPr>
          <p:cNvSpPr txBox="1"/>
          <p:nvPr/>
        </p:nvSpPr>
        <p:spPr>
          <a:xfrm>
            <a:off x="468923" y="2328619"/>
            <a:ext cx="3364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Classification séquentielle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FB02B8D-B15D-0231-26BD-49A2FA7480A9}"/>
              </a:ext>
            </a:extLst>
          </p:cNvPr>
          <p:cNvSpPr txBox="1"/>
          <p:nvPr/>
        </p:nvSpPr>
        <p:spPr>
          <a:xfrm>
            <a:off x="117231" y="3151057"/>
            <a:ext cx="3470031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CNN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B85DBAE-03DB-4856-3511-EA8C5DB9A6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07409" y="4199047"/>
            <a:ext cx="5164694" cy="196958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51572035-1E52-FEC0-765A-174337019063}"/>
              </a:ext>
            </a:extLst>
          </p:cNvPr>
          <p:cNvSpPr txBox="1"/>
          <p:nvPr/>
        </p:nvSpPr>
        <p:spPr>
          <a:xfrm>
            <a:off x="609600" y="3700249"/>
            <a:ext cx="2860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segmentent l’image </a:t>
            </a:r>
          </a:p>
        </p:txBody>
      </p:sp>
      <p:pic>
        <p:nvPicPr>
          <p:cNvPr id="19" name="Image 18" descr="Une image contenant texte, diagramme, capture d’écran, Police&#10;&#10;Description générée automatiquement">
            <a:extLst>
              <a:ext uri="{FF2B5EF4-FFF2-40B4-BE49-F238E27FC236}">
                <a16:creationId xmlns:a16="http://schemas.microsoft.com/office/drawing/2014/main" id="{C8F1F30F-E1E9-3479-4254-B55F56E8C61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285" y="1691827"/>
            <a:ext cx="6944857" cy="427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23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MODELISATION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615567E-C5CA-AB2B-D301-E77A33F10478}"/>
              </a:ext>
            </a:extLst>
          </p:cNvPr>
          <p:cNvSpPr/>
          <p:nvPr/>
        </p:nvSpPr>
        <p:spPr>
          <a:xfrm>
            <a:off x="4213185" y="1018572"/>
            <a:ext cx="3391382" cy="574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SYSTÈME MULTIMODAL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4EF20E5-7B6E-181F-9B4F-E6014A6F1C4A}"/>
              </a:ext>
            </a:extLst>
          </p:cNvPr>
          <p:cNvSpPr/>
          <p:nvPr/>
        </p:nvSpPr>
        <p:spPr>
          <a:xfrm>
            <a:off x="8750459" y="4302982"/>
            <a:ext cx="3391382" cy="574869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EASYOCR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4DEB0CD-0CB9-BB0B-E53A-B083D55ABB58}"/>
              </a:ext>
            </a:extLst>
          </p:cNvPr>
          <p:cNvSpPr/>
          <p:nvPr/>
        </p:nvSpPr>
        <p:spPr>
          <a:xfrm>
            <a:off x="4561729" y="4302982"/>
            <a:ext cx="3391382" cy="574869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WAV2VEC2.0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12EA52A-B9B2-488A-A0AD-7B6AA571C321}"/>
              </a:ext>
            </a:extLst>
          </p:cNvPr>
          <p:cNvSpPr/>
          <p:nvPr/>
        </p:nvSpPr>
        <p:spPr>
          <a:xfrm>
            <a:off x="347241" y="4300992"/>
            <a:ext cx="3391382" cy="57486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FACENET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03D93906-FF23-1864-C8FE-9CB01B35FD0B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2042932" y="1664912"/>
            <a:ext cx="2490046" cy="263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A58FFFD3-5EA8-DB37-ABE5-09EAE3A5E8F0}"/>
              </a:ext>
            </a:extLst>
          </p:cNvPr>
          <p:cNvCxnSpPr>
            <a:cxnSpLocks/>
          </p:cNvCxnSpPr>
          <p:nvPr/>
        </p:nvCxnSpPr>
        <p:spPr>
          <a:xfrm>
            <a:off x="5906479" y="1682435"/>
            <a:ext cx="2397" cy="2618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73CA01DA-60B7-2037-3413-607B83DA180B}"/>
              </a:ext>
            </a:extLst>
          </p:cNvPr>
          <p:cNvCxnSpPr>
            <a:cxnSpLocks/>
          </p:cNvCxnSpPr>
          <p:nvPr/>
        </p:nvCxnSpPr>
        <p:spPr>
          <a:xfrm>
            <a:off x="7197015" y="1583266"/>
            <a:ext cx="2821262" cy="2690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Ellipse 29">
            <a:extLst>
              <a:ext uri="{FF2B5EF4-FFF2-40B4-BE49-F238E27FC236}">
                <a16:creationId xmlns:a16="http://schemas.microsoft.com/office/drawing/2014/main" id="{F0225AFA-D40E-3330-4665-9EB5C28095F0}"/>
              </a:ext>
            </a:extLst>
          </p:cNvPr>
          <p:cNvSpPr/>
          <p:nvPr/>
        </p:nvSpPr>
        <p:spPr>
          <a:xfrm>
            <a:off x="2908324" y="2621201"/>
            <a:ext cx="960699" cy="561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RF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E6691D5-9622-9D20-4F76-30B337DCBEB7}"/>
              </a:ext>
            </a:extLst>
          </p:cNvPr>
          <p:cNvSpPr/>
          <p:nvPr/>
        </p:nvSpPr>
        <p:spPr>
          <a:xfrm>
            <a:off x="7953111" y="2604833"/>
            <a:ext cx="960699" cy="561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OCR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87D3358-4076-89B6-3B7F-0930E5654DFD}"/>
              </a:ext>
            </a:extLst>
          </p:cNvPr>
          <p:cNvSpPr/>
          <p:nvPr/>
        </p:nvSpPr>
        <p:spPr>
          <a:xfrm>
            <a:off x="5432909" y="2604833"/>
            <a:ext cx="960699" cy="561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RAL</a:t>
            </a:r>
          </a:p>
        </p:txBody>
      </p:sp>
    </p:spTree>
    <p:extLst>
      <p:ext uri="{BB962C8B-B14F-4D97-AF65-F5344CB8AC3E}">
        <p14:creationId xmlns:p14="http://schemas.microsoft.com/office/powerpoint/2010/main" val="4268755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6B9A-C1E3-E657-4DA1-14EAD675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C52B20F5-49E9-3450-1C74-5491189F0C0B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165044E-6940-3544-9453-7FB3ACC00D56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0B6DCDF-146D-8BB8-BFBF-BA276FA2F023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C188ACD-D8BD-CBC3-DE4B-E1166B8FF3D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DDCE0D8-C36F-D4D9-8B4C-277A6F459480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MODELISATION</a:t>
            </a: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68470286-F9B8-DA9F-3415-4E575A30B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46" y="1361104"/>
            <a:ext cx="10923681" cy="485496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656805B-F9F9-DBA7-DF97-B019F514CAEB}"/>
              </a:ext>
            </a:extLst>
          </p:cNvPr>
          <p:cNvSpPr txBox="1"/>
          <p:nvPr/>
        </p:nvSpPr>
        <p:spPr>
          <a:xfrm>
            <a:off x="3851610" y="789596"/>
            <a:ext cx="50839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SYNTHÈSE DES CHOIX TECHNOLOGIQUES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2848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17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RESULTAT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4C1D37-C350-EECB-8966-DC2BB45919AF}"/>
              </a:ext>
            </a:extLst>
          </p:cNvPr>
          <p:cNvSpPr txBox="1"/>
          <p:nvPr/>
        </p:nvSpPr>
        <p:spPr>
          <a:xfrm>
            <a:off x="497711" y="1030147"/>
            <a:ext cx="2789499" cy="1015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000" dirty="0"/>
              <a:t>INTERFACE </a:t>
            </a:r>
          </a:p>
          <a:p>
            <a:r>
              <a:rPr lang="fr-FR" sz="2000" dirty="0"/>
              <a:t>APPLICATION AVEC TKINTER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F28107B-184B-1AB7-5D06-C5F6EB34C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278" y="825040"/>
            <a:ext cx="6764481" cy="565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2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09E5A-0B1F-8261-461A-37098F7C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D1A0342E-BF3A-5A75-345C-A17C92F392E7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4E83566-5F0C-16FF-A5CA-D090FA1B735C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7223D6E-D2BA-9B0A-E9D8-E11C8C2221B3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18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9B4160-C7C6-DF17-FD15-47E7E992F98D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7BBD356-037D-4CED-A717-B6EBC98382D3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RESULTAT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1A005E6-F1D6-52E1-7EA9-03B31666CF08}"/>
              </a:ext>
            </a:extLst>
          </p:cNvPr>
          <p:cNvSpPr txBox="1"/>
          <p:nvPr/>
        </p:nvSpPr>
        <p:spPr>
          <a:xfrm>
            <a:off x="0" y="750012"/>
            <a:ext cx="319461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RECONNAISSANCE FACIALE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97EEEB4-C729-2BB8-9E4F-3A5CD7C864C0}"/>
              </a:ext>
            </a:extLst>
          </p:cNvPr>
          <p:cNvSpPr txBox="1"/>
          <p:nvPr/>
        </p:nvSpPr>
        <p:spPr>
          <a:xfrm>
            <a:off x="0" y="1226604"/>
            <a:ext cx="49713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Précision</a:t>
            </a:r>
            <a:r>
              <a:rPr lang="fr-FR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 : 85%</a:t>
            </a:r>
          </a:p>
          <a:p>
            <a:pPr algn="l"/>
            <a:r>
              <a:rPr lang="fr-FR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Temps de traitement</a:t>
            </a:r>
            <a:r>
              <a:rPr lang="fr-FR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 : 1,2 secondes par image</a:t>
            </a:r>
          </a:p>
          <a:p>
            <a:pPr algn="l"/>
            <a:r>
              <a:rPr lang="fr-FR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Impact des variations</a:t>
            </a:r>
            <a:r>
              <a:rPr lang="fr-FR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 : Luminosité, accessoires, distance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 dirty="0">
              <a:solidFill>
                <a:srgbClr val="111111"/>
              </a:solidFill>
              <a:effectLst/>
              <a:highlight>
                <a:srgbClr val="FFFFFF"/>
              </a:highlight>
              <a:latin typeface="-apple-system"/>
            </a:endParaRPr>
          </a:p>
        </p:txBody>
      </p:sp>
      <p:pic>
        <p:nvPicPr>
          <p:cNvPr id="19" name="Image 18" descr="Une image contenant Visage humain, capture d’écran, personne, texte&#10;&#10;Description générée automatiquement">
            <a:extLst>
              <a:ext uri="{FF2B5EF4-FFF2-40B4-BE49-F238E27FC236}">
                <a16:creationId xmlns:a16="http://schemas.microsoft.com/office/drawing/2014/main" id="{3370A3A5-58A4-CA5C-204B-28423799B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19" y="2392053"/>
            <a:ext cx="4664833" cy="411480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0724D125-2A72-4C7E-50A7-08A25B97C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620" y="2118629"/>
            <a:ext cx="6602971" cy="4401219"/>
          </a:xfrm>
          <a:prstGeom prst="rect">
            <a:avLst/>
          </a:prstGeom>
        </p:spPr>
      </p:pic>
      <p:sp>
        <p:nvSpPr>
          <p:cNvPr id="26" name="Arc 25">
            <a:extLst>
              <a:ext uri="{FF2B5EF4-FFF2-40B4-BE49-F238E27FC236}">
                <a16:creationId xmlns:a16="http://schemas.microsoft.com/office/drawing/2014/main" id="{F3C420D0-91EE-B098-1D8D-8DD55F71F70E}"/>
              </a:ext>
            </a:extLst>
          </p:cNvPr>
          <p:cNvSpPr/>
          <p:nvPr/>
        </p:nvSpPr>
        <p:spPr>
          <a:xfrm>
            <a:off x="4035882" y="2066774"/>
            <a:ext cx="1372738" cy="846890"/>
          </a:xfrm>
          <a:prstGeom prst="arc">
            <a:avLst>
              <a:gd name="adj1" fmla="val 10211080"/>
              <a:gd name="adj2" fmla="val 82252"/>
            </a:avLst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3152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19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RESULTAT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F5ABF03-99C8-03B7-C5BE-D00DD33F4909}"/>
              </a:ext>
            </a:extLst>
          </p:cNvPr>
          <p:cNvSpPr txBox="1"/>
          <p:nvPr/>
        </p:nvSpPr>
        <p:spPr>
          <a:xfrm>
            <a:off x="108252" y="1126326"/>
            <a:ext cx="5173884" cy="7078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000" dirty="0"/>
              <a:t>RECONNAISSANCE AUTOMATIQUE DE LOCUTEUR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1DF058E-A49A-6737-FFDB-29B9B6AA024A}"/>
              </a:ext>
            </a:extLst>
          </p:cNvPr>
          <p:cNvSpPr txBox="1"/>
          <p:nvPr/>
        </p:nvSpPr>
        <p:spPr>
          <a:xfrm>
            <a:off x="767242" y="2653139"/>
            <a:ext cx="72129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Précision</a:t>
            </a:r>
            <a:r>
              <a:rPr lang="fr-FR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 : 92% en environnement silencieux, 70% en environnement bruyant</a:t>
            </a:r>
          </a:p>
          <a:p>
            <a:pPr algn="l"/>
            <a:r>
              <a:rPr lang="fr-FR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Erreurs de classification</a:t>
            </a:r>
            <a:r>
              <a:rPr lang="fr-FR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 : Bruits similaires à la parole humaine</a:t>
            </a:r>
          </a:p>
          <a:p>
            <a:pPr algn="l"/>
            <a:r>
              <a:rPr lang="fr-FR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Temps de traitement</a:t>
            </a:r>
            <a:r>
              <a:rPr lang="fr-FR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 : 1,5 secondes par échantillon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2457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D335-999E-66E1-2A9F-D1A4EA131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710CBF96-A5B5-9F36-B552-9E20CB303410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F59E95B-929D-59B0-FC4B-C716C5B750FC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C49AD28-8759-4548-A313-AF0AC414BC5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20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14C2738-067E-E918-EA33-A8817CAC0683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5A59002-0D3A-8099-F749-9F9A47439A91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RESULTAT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0344A81-B986-A647-E7E8-2410ADD84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77" y="723676"/>
            <a:ext cx="5296924" cy="5747833"/>
          </a:xfrm>
          <a:prstGeom prst="rect">
            <a:avLst/>
          </a:prstGeom>
        </p:spPr>
      </p:pic>
      <p:pic>
        <p:nvPicPr>
          <p:cNvPr id="10" name="Image 9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738CFDD1-DB3E-09E4-9191-87695A654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428" y="776347"/>
            <a:ext cx="5248387" cy="56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42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8105-6CD0-E3C3-FEB5-C725F86E4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6318464D-CA97-6E97-4C35-AC5DCABB960D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0181293-BF6F-2B56-376B-CE7360A08778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D9B9803-6DAD-2C31-D904-BDC31C5D5931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A8DD16A-E359-D141-04B4-193C7054FB83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BDFF53F-DE97-73BE-F4D5-65F3A609DB71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RESULTAT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CBF7EB4-5170-C672-31C4-9917C0CDF72C}"/>
              </a:ext>
            </a:extLst>
          </p:cNvPr>
          <p:cNvSpPr txBox="1"/>
          <p:nvPr/>
        </p:nvSpPr>
        <p:spPr>
          <a:xfrm>
            <a:off x="108252" y="1126326"/>
            <a:ext cx="5173884" cy="7078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000" dirty="0"/>
              <a:t>RECONNAISSANCE AUTOMATIQUE DE CARACTERES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99D9369-184D-ADD4-8093-BB7827C54EF9}"/>
              </a:ext>
            </a:extLst>
          </p:cNvPr>
          <p:cNvSpPr txBox="1"/>
          <p:nvPr/>
        </p:nvSpPr>
        <p:spPr>
          <a:xfrm>
            <a:off x="147359" y="2035921"/>
            <a:ext cx="5173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Précision</a:t>
            </a:r>
            <a:r>
              <a:rPr lang="fr-FR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 : 88%</a:t>
            </a:r>
          </a:p>
          <a:p>
            <a:pPr algn="l"/>
            <a:r>
              <a:rPr lang="fr-FR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Temps de traitement</a:t>
            </a:r>
            <a:r>
              <a:rPr lang="fr-FR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 : Variable selon la densité du texte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A055D8-20FF-E08E-6F7B-05D7E52A73C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58" y="2822737"/>
            <a:ext cx="4816064" cy="3660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 7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51564431-9258-8B5F-5F39-6855BEC16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622" y="1126326"/>
            <a:ext cx="6265976" cy="5323208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53E0D36C-1A57-EC95-9606-0F787340F5D0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963422" y="3787930"/>
            <a:ext cx="641200" cy="86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705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RESULTAT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4672330-C32E-05E5-5ABB-2DA9F7584970}"/>
              </a:ext>
            </a:extLst>
          </p:cNvPr>
          <p:cNvSpPr txBox="1"/>
          <p:nvPr/>
        </p:nvSpPr>
        <p:spPr>
          <a:xfrm>
            <a:off x="108252" y="1126326"/>
            <a:ext cx="5173884" cy="7078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000" dirty="0"/>
              <a:t>RECONNAISSANCE AUTOMATIQUE DE CARACTERES</a:t>
            </a:r>
          </a:p>
        </p:txBody>
      </p:sp>
      <p:pic>
        <p:nvPicPr>
          <p:cNvPr id="13" name="Image 12" descr="Une image contenant texte, Visage humain, personne, Pièce d’identité&#10;&#10;Description générée automatiquement">
            <a:extLst>
              <a:ext uri="{FF2B5EF4-FFF2-40B4-BE49-F238E27FC236}">
                <a16:creationId xmlns:a16="http://schemas.microsoft.com/office/drawing/2014/main" id="{2AF675AA-65E4-D9C7-2DEB-EA067F6FE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23" y="1980964"/>
            <a:ext cx="6306595" cy="450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C4744BA6-B3BA-9F5D-1CE6-4BAC77D7D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733" y="904531"/>
            <a:ext cx="5495979" cy="5155874"/>
          </a:xfrm>
          <a:prstGeom prst="rect">
            <a:avLst/>
          </a:prstGeom>
        </p:spPr>
      </p:pic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23DDC81-68D4-18D1-A7E2-0E36CF1A5715}"/>
              </a:ext>
            </a:extLst>
          </p:cNvPr>
          <p:cNvCxnSpPr>
            <a:cxnSpLocks/>
          </p:cNvCxnSpPr>
          <p:nvPr/>
        </p:nvCxnSpPr>
        <p:spPr>
          <a:xfrm flipV="1">
            <a:off x="6450818" y="2411218"/>
            <a:ext cx="193399" cy="1505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157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38639DE-40B9-BFD7-EEA4-3741F5E9336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PRESENTATION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8355D8-A016-449B-6069-18D6EF3B1D8E}"/>
              </a:ext>
            </a:extLst>
          </p:cNvPr>
          <p:cNvSpPr txBox="1"/>
          <p:nvPr/>
        </p:nvSpPr>
        <p:spPr>
          <a:xfrm>
            <a:off x="0" y="6536987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HONOU Koessivi Jean									EPL &amp; UTBM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4009B5-AE25-DB7B-170C-6827B42E5038}"/>
              </a:ext>
            </a:extLst>
          </p:cNvPr>
          <p:cNvSpPr txBox="1"/>
          <p:nvPr/>
        </p:nvSpPr>
        <p:spPr>
          <a:xfrm>
            <a:off x="11507821" y="6536496"/>
            <a:ext cx="46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8D9AD2-E40B-C417-C596-F4416CB8532B}"/>
              </a:ext>
            </a:extLst>
          </p:cNvPr>
          <p:cNvSpPr txBox="1"/>
          <p:nvPr/>
        </p:nvSpPr>
        <p:spPr>
          <a:xfrm>
            <a:off x="0" y="-17982"/>
            <a:ext cx="12192000" cy="76799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15641A-9D48-4DE6-7D97-BD8B9DEEDAE7}"/>
              </a:ext>
            </a:extLst>
          </p:cNvPr>
          <p:cNvSpPr txBox="1"/>
          <p:nvPr/>
        </p:nvSpPr>
        <p:spPr>
          <a:xfrm>
            <a:off x="1529778" y="111141"/>
            <a:ext cx="9455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CONCLUSION ET PERSPECTIVE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D53E11A-1EFB-909E-EF5C-2A95C8CC9734}"/>
              </a:ext>
            </a:extLst>
          </p:cNvPr>
          <p:cNvSpPr txBox="1"/>
          <p:nvPr/>
        </p:nvSpPr>
        <p:spPr>
          <a:xfrm>
            <a:off x="1041722" y="1817225"/>
            <a:ext cx="10373898" cy="2291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B9DFC61-36CE-5A0C-2975-661D61C88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373" y="5328703"/>
            <a:ext cx="92134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195B8F-6438-CC3E-06FF-4A6E7DDAE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90" y="1816734"/>
            <a:ext cx="1146726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Mise en place d’une application multimodale alliant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FaceNet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Wav2Vec2.0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EasyOCR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une identification plus fiable.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Performances globalement bonnes, malgré l’influence du bruit et des variations de luminosité.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Améliorations envisagées : données enrichies, filtres anti-bruit, interface plus conviviale.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Perspectives : ouverture à d’autres biométries et déploiement dans des domaines de sécurité et d’automatisation.</a:t>
            </a:r>
          </a:p>
        </p:txBody>
      </p:sp>
    </p:spTree>
    <p:extLst>
      <p:ext uri="{BB962C8B-B14F-4D97-AF65-F5344CB8AC3E}">
        <p14:creationId xmlns:p14="http://schemas.microsoft.com/office/powerpoint/2010/main" val="3750951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FDE8EEBC0A3B41A6C6C53F072B5741" ma:contentTypeVersion="4" ma:contentTypeDescription="Crée un document." ma:contentTypeScope="" ma:versionID="cd0e6f04a0cc5d23874fb4c3c31a0085">
  <xsd:schema xmlns:xsd="http://www.w3.org/2001/XMLSchema" xmlns:xs="http://www.w3.org/2001/XMLSchema" xmlns:p="http://schemas.microsoft.com/office/2006/metadata/properties" xmlns:ns3="b9c10df4-2457-49e8-86a7-4ce6f48cdecd" targetNamespace="http://schemas.microsoft.com/office/2006/metadata/properties" ma:root="true" ma:fieldsID="cfd3f1bf5637bbf9580f8464696722c2" ns3:_="">
    <xsd:import namespace="b9c10df4-2457-49e8-86a7-4ce6f48cdec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10df4-2457-49e8-86a7-4ce6f48cde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BD685E-1B94-4E16-9AB5-1B2B390EC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c10df4-2457-49e8-86a7-4ce6f48cd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A14C66-79A2-4056-B6C4-EB58C03AC8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F2798E-B9AF-4F6E-BD6B-41FD5282CE48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b9c10df4-2457-49e8-86a7-4ce6f48cdecd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6360</TotalTime>
  <Words>2491</Words>
  <Application>Microsoft Office PowerPoint</Application>
  <PresentationFormat>Grand écran</PresentationFormat>
  <Paragraphs>335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3" baseType="lpstr">
      <vt:lpstr>-apple-system</vt:lpstr>
      <vt:lpstr>Aptos</vt:lpstr>
      <vt:lpstr>Aptos Display</vt:lpstr>
      <vt:lpstr>Arial</vt:lpstr>
      <vt:lpstr>Calibri</vt:lpstr>
      <vt:lpstr>Cambria Math</vt:lpstr>
      <vt:lpstr>Symbol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Koessivi Jean HONOU</dc:creator>
  <cp:lastModifiedBy>Koessivi Jean HONOU</cp:lastModifiedBy>
  <cp:revision>9</cp:revision>
  <dcterms:created xsi:type="dcterms:W3CDTF">2024-10-09T12:06:25Z</dcterms:created>
  <dcterms:modified xsi:type="dcterms:W3CDTF">2025-08-08T15:48:59Z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0x010100C5FDE8EEBC0A3B41A6C6C53F072B5741</vt:lpwstr>
  </property>
</Properties>
</file>